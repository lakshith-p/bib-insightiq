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Documentation of the implemented analytics demo and private-portal foundations. Dataset uploaded by the user contains 300 fictional students. This is not a claim of full production readiness.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presentation explains the product, with rule tables and requirements matrices later for technical reviewers.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 brief: integrate seven campus sources and identify students needing support. No actual campus API integration is claimed.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 are deterministic rule-based signals, not diagnoses or predictive machine-learning probabilities.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invent the unlisted balance of judging weights. These percentages reproduce the supplied implementation prompt.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preparation incorporated messy raw sources and the clean reference answer key. The in-app CSV screen handles unified rows; it is not a live connector for seven independent raw feeds.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captured in the current admin/data dashboards. Data coverage differs from seven-source coverage because feedback is not a weighted component. Missing inputs in flag evaluation add no points.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site also includes role benefits, trust/privacy messaging and Connect with us. Assistant history is visit-only; provider calls stay server-side.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private portal has server-side authentication and permission-related source paths. Hosted sign-in/signup configuration and full authenticated workflows were not verified in this documentation capture. Public role isolation is a UI/demo safeguard, not protection for public seed data.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tabs: Overview · Academics · Attendance · LMS · Skills · Placement · Engagement · Feedback.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vision includes internal assessment breakdown, exams and backlog remedial content. Detailed calendars and complete assessment workflows require verified source data; do not infer them from this screenshot.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Remaining classes are a fixed demo assumption of 14 per subject—not a live timetable.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PDF contains an inconsistent example. This presentation uses the exact formula: ceiling((.85*40-32)/.15)=14, not 8. Targets are prototype rules, not asserted university policy.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conversion uses lesson-only and assignment-only containers to preserve official percentages. The expanded syllabus/resources are deterministic demo content. Do not claim teacher uploads or submissions are connected merely because resource cards render.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Weekly test curves and practice cards are illustrative; they are not scored live attempts.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 allowance by CGPA and resume-role matching are prototype rules and heuristics, not employer guarantees. The eligibility function rejects eligibility when required data is missing. Readiness is weighted separately from hard drive criteria.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and club recommendations are demo content; real evidence verification needs a connected review workflow.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has a private feedback route and server operations; authenticated submission/review was not tested here. Demo confidentiality is presentation isolation, not production-grade storage security.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rounded to one decimal. Feedback is integrated in the student story but not included in the six weighted components. Component weights are configurable in code; a versioned administrator policy UI is a separate requirement.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Mock contribution = min(100, completed mocks / 3 × 100). Assessment contribution uses completed/required when required &gt; 0. Skills omit missing sentinels; engagement distinguishes a missing source from a true zero. Exact official reference formulas are in the scoring source.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explicit variation from the initial prompt, not a claim of exact compliance with conflicting thresholds. Scores, risk points and bands are checked against the uploaded reference. Rules are support heuristics, not official university policy.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High ≥5, Medium ≥2, otherwise Low. Driver lists contain signal, actual value, threshold and points, sorted highest impact first. Missing evaluators return null and add no points; all missing gives Insufficient data. Shared file: src/lib/risk-flags.js.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High ≥6, Medium ≥3, otherwise Low. Same shared config as Academic Risk. Missing inputs produce no points and an Insufficient data disclosure. The aggregate score does not replace these separate flags.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certifications/hackathons are explicitly disclosed as insufficient data. A mentor should check schedule feasibility and discuss attendance support, then resume/assessment/mock interview preparation. The profile recommendation reports 107 classes to recover the aggregate 75% target, which is not a timetable guarantee.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Cross-source rules are implemented in src/lib/scoring.js. Some insight thresholds and LMS calculations are legacy heuristics distinct from the official risk-rule table. A production system should consolidate policy versions and include dates and data provenance; correlation is never proof of cause.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demo screenshot shows 300 assigned students for Dr. Rao. Do not claim all advanced addendum filters such as missing data, subject, overdue tasks or timestamped urgency sorting exist from these controls.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skill sentinels (-1) currently appear in this public comparison: a known presentation gap; these must become Unknown before real use. The comparison panel appears below the long cohort table. Private peer feedback, resumes and complaints should never be included. Demo fictional peer records are public; do not infer production authorization from their availability.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demo store persists interventions to localStorage. The private portal has an interventions route and server-backed operation paths; account-level end-to-end persistence/outcome checks were not performed for this deck. A resolved state does not prove the intervention caused a metric improvement.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captured from current dashboard: CSE111, ECE75, IT64, ME50. Academic high CSE17/ECE16/IT15/ME10; placement high23/18/16/12. High flags can overlap; do not add 58+69 to infer unique high-risk students.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audit was corrected by the actual preview and source: manualSchema validates basic fields and addStudents persists the demo record. Unified CSV import is not equivalent to complete seven-feed cleaning/provenance or institutional integration.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Implemented means demonstrable in the public fictional workspace or directly identified in source; it does not mean fully production accepted. Requirements sources: main PDF sections1–18, addendum19.1–19.6 and pasted implementation prompt.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includes additional authenticated portal pages for learning, skills, engagement, feedback, messages and audit. Their presence alone does not verify full secure end-to-end workflows. Distinguish deterministic UI examples from actual imported records.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package/source includes PostgreSQL pg, bcryptjs/jose and server-backed campus modules. Avoid promising a specific hosted auth implementation from stale docs. This deck presents the public demo and source-level private foundation; hosted deployment settings and authenticated user journeys remain unverified.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log: /tmp/bib-ppt/tests.log, all33 passed in6 files. Dataset test checks score parity within ±1.5, not exact decimal equality; flag points/levels and effective bands have exact checks. Screenshots are 1280×1800 preview captures with crops for readability. Automated tests are not a security audit.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in a fresh demo session. Choose Teacher/Admin demo at the access page to change roles; do not try to bypass a Student demo restriction. Sahil profile can be opened from the faculty/admin fictional cohort. Reset changes only in the demo, not production.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Priorities reflect requirements not fully demonstrated. The deck does not request or perform any application changes. Scope should be validated through authenticated tests and institution-authorized data before deployment to real students.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BIB — Biryani Intelligence Bureau. References: BIB_InsightIQ_Project_Requirements_1.pdf; BIB_InsightIQ_Project_Requirements_v2.pdf; Final Implementation Prompt; uploaded bib_insightiq_dataset.zip and current application source, tests and screenshots. This project uses a fictional dataset, deterministic rules and illustrative activity content.
Evidence: supplied challenge prompt and requirements PDFs; current source and preview screenshots. Fictional dataset; illustrative UI activity is not measured institutional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A32"/>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9DD8BC"/>
                </a:solidFill>
                <a:latin typeface="Trebuchet MS" pitchFamily="34" charset="0"/>
                <a:ea typeface="Trebuchet MS" pitchFamily="34" charset="-122"/>
                <a:cs typeface="Trebuchet MS" pitchFamily="34" charset="-120"/>
              </a:rPr>
              <a:t>STUDENT SUCCESS INTELLIGENCE PLATFORM</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FFFFFF"/>
                </a:solidFill>
                <a:latin typeface="Trebuchet MS" pitchFamily="34" charset="0"/>
                <a:ea typeface="Trebuchet MS" pitchFamily="34" charset="-122"/>
                <a:cs typeface="Trebuchet MS" pitchFamily="34" charset="-120"/>
              </a:rPr>
              <a:t>BIB InsightIQ</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9DD8BC"/>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502920" y="1874520"/>
            <a:ext cx="5486400" cy="1554480"/>
          </a:xfrm>
          <a:prstGeom prst="rect">
            <a:avLst/>
          </a:prstGeom>
          <a:noFill/>
          <a:ln/>
        </p:spPr>
        <p:txBody>
          <a:bodyPr wrap="square" lIns="0" tIns="0" rIns="0" bIns="0" rtlCol="0" anchor="t"/>
          <a:lstStyle/>
          <a:p>
            <a:pPr indent="0" marL="0">
              <a:buNone/>
            </a:pPr>
            <a:r>
              <a:rPr lang="en-US" sz="3500" b="1" dirty="0">
                <a:solidFill>
                  <a:srgbClr val="FFFFFF"/>
                </a:solidFill>
                <a:latin typeface="Trebuchet MS" pitchFamily="34" charset="0"/>
                <a:ea typeface="Trebuchet MS" pitchFamily="34" charset="-122"/>
                <a:cs typeface="Trebuchet MS" pitchFamily="34" charset="-120"/>
              </a:rPr>
              <a:t>Turning campus data</a:t>
            </a:r>
            <a:endParaRPr lang="en-US" sz="3500" dirty="0"/>
          </a:p>
          <a:p>
            <a:pPr indent="0" marL="0">
              <a:buNone/>
            </a:pPr>
            <a:r>
              <a:rPr lang="en-US" sz="3500" b="1" dirty="0">
                <a:solidFill>
                  <a:srgbClr val="FFFFFF"/>
                </a:solidFill>
                <a:latin typeface="Trebuchet MS" pitchFamily="34" charset="0"/>
                <a:ea typeface="Trebuchet MS" pitchFamily="34" charset="-122"/>
                <a:cs typeface="Trebuchet MS" pitchFamily="34" charset="-120"/>
              </a:rPr>
              <a:t>into student success.</a:t>
            </a:r>
            <a:endParaRPr lang="en-US" sz="3500" dirty="0"/>
          </a:p>
        </p:txBody>
      </p:sp>
      <p:sp>
        <p:nvSpPr>
          <p:cNvPr id="7" name="Text 5"/>
          <p:cNvSpPr/>
          <p:nvPr/>
        </p:nvSpPr>
        <p:spPr>
          <a:xfrm>
            <a:off x="502920" y="3767328"/>
            <a:ext cx="5486400" cy="1005840"/>
          </a:xfrm>
          <a:prstGeom prst="rect">
            <a:avLst/>
          </a:prstGeom>
          <a:noFill/>
          <a:ln/>
        </p:spPr>
        <p:txBody>
          <a:bodyPr wrap="square" lIns="0" tIns="0" rIns="0" bIns="0" rtlCol="0" anchor="t"/>
          <a:lstStyle/>
          <a:p>
            <a:pPr indent="0" marL="0">
              <a:buNone/>
            </a:pPr>
            <a:r>
              <a:rPr lang="en-US" sz="2100" dirty="0">
                <a:solidFill>
                  <a:srgbClr val="BCE0CF"/>
                </a:solidFill>
                <a:latin typeface="Calibri" pitchFamily="34" charset="0"/>
                <a:ea typeface="Calibri" pitchFamily="34" charset="-122"/>
                <a:cs typeface="Calibri" pitchFamily="34" charset="-120"/>
              </a:rPr>
              <a:t>Challenge, solution, feature walkthrough,</a:t>
            </a:r>
            <a:endParaRPr lang="en-US" sz="2100" dirty="0"/>
          </a:p>
          <a:p>
            <a:pPr indent="0" marL="0">
              <a:buNone/>
            </a:pPr>
            <a:r>
              <a:rPr lang="en-US" sz="2100" dirty="0">
                <a:solidFill>
                  <a:srgbClr val="BCE0CF"/>
                </a:solidFill>
                <a:latin typeface="Calibri" pitchFamily="34" charset="0"/>
                <a:ea typeface="Calibri" pitchFamily="34" charset="-122"/>
                <a:cs typeface="Calibri" pitchFamily="34" charset="-120"/>
              </a:rPr>
              <a:t>analytics patterns and requirements coverage</a:t>
            </a:r>
            <a:endParaRPr lang="en-US" sz="2100" dirty="0"/>
          </a:p>
        </p:txBody>
      </p:sp>
      <p:sp>
        <p:nvSpPr>
          <p:cNvPr id="8" name="Shape 6"/>
          <p:cNvSpPr/>
          <p:nvPr/>
        </p:nvSpPr>
        <p:spPr>
          <a:xfrm>
            <a:off x="6766560" y="1828800"/>
            <a:ext cx="4846320" cy="3931920"/>
          </a:xfrm>
          <a:prstGeom prst="rect">
            <a:avLst/>
          </a:prstGeom>
          <a:solidFill>
            <a:srgbClr val="215446"/>
          </a:solidFill>
          <a:ln w="12700">
            <a:solidFill>
              <a:srgbClr val="215446"/>
            </a:solidFill>
            <a:prstDash val="solid"/>
          </a:ln>
        </p:spPr>
      </p:sp>
      <p:sp>
        <p:nvSpPr>
          <p:cNvPr id="9" name="Text 7"/>
          <p:cNvSpPr/>
          <p:nvPr/>
        </p:nvSpPr>
        <p:spPr>
          <a:xfrm>
            <a:off x="7132320" y="2148840"/>
            <a:ext cx="1371600" cy="731520"/>
          </a:xfrm>
          <a:prstGeom prst="rect">
            <a:avLst/>
          </a:prstGeom>
          <a:noFill/>
          <a:ln/>
        </p:spPr>
        <p:txBody>
          <a:bodyPr wrap="square" lIns="0" tIns="0" rIns="0" bIns="0" rtlCol="0" anchor="t"/>
          <a:lstStyle/>
          <a:p>
            <a:pPr indent="0" marL="0">
              <a:buNone/>
            </a:pPr>
            <a:r>
              <a:rPr lang="en-US" sz="4600" b="1" dirty="0">
                <a:solidFill>
                  <a:srgbClr val="B2E9C2"/>
                </a:solidFill>
                <a:latin typeface="Trebuchet MS" pitchFamily="34" charset="0"/>
                <a:ea typeface="Trebuchet MS" pitchFamily="34" charset="-122"/>
                <a:cs typeface="Trebuchet MS" pitchFamily="34" charset="-120"/>
              </a:rPr>
              <a:t>07</a:t>
            </a:r>
            <a:endParaRPr lang="en-US" sz="4600" dirty="0"/>
          </a:p>
        </p:txBody>
      </p:sp>
      <p:sp>
        <p:nvSpPr>
          <p:cNvPr id="10" name="Text 8"/>
          <p:cNvSpPr/>
          <p:nvPr/>
        </p:nvSpPr>
        <p:spPr>
          <a:xfrm>
            <a:off x="8686800" y="2350008"/>
            <a:ext cx="2560320" cy="548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Connected sources</a:t>
            </a:r>
            <a:endParaRPr lang="en-US" sz="2000" dirty="0"/>
          </a:p>
        </p:txBody>
      </p:sp>
      <p:sp>
        <p:nvSpPr>
          <p:cNvPr id="11" name="Text 9"/>
          <p:cNvSpPr/>
          <p:nvPr/>
        </p:nvSpPr>
        <p:spPr>
          <a:xfrm>
            <a:off x="7132320" y="3172968"/>
            <a:ext cx="1371600" cy="731520"/>
          </a:xfrm>
          <a:prstGeom prst="rect">
            <a:avLst/>
          </a:prstGeom>
          <a:noFill/>
          <a:ln/>
        </p:spPr>
        <p:txBody>
          <a:bodyPr wrap="square" lIns="0" tIns="0" rIns="0" bIns="0" rtlCol="0" anchor="t"/>
          <a:lstStyle/>
          <a:p>
            <a:pPr indent="0" marL="0">
              <a:buNone/>
            </a:pPr>
            <a:r>
              <a:rPr lang="en-US" sz="4600" b="1" dirty="0">
                <a:solidFill>
                  <a:srgbClr val="B2E9C2"/>
                </a:solidFill>
                <a:latin typeface="Trebuchet MS" pitchFamily="34" charset="0"/>
                <a:ea typeface="Trebuchet MS" pitchFamily="34" charset="-122"/>
                <a:cs typeface="Trebuchet MS" pitchFamily="34" charset="-120"/>
              </a:rPr>
              <a:t>300</a:t>
            </a:r>
            <a:endParaRPr lang="en-US" sz="4600" dirty="0"/>
          </a:p>
        </p:txBody>
      </p:sp>
      <p:sp>
        <p:nvSpPr>
          <p:cNvPr id="12" name="Text 10"/>
          <p:cNvSpPr/>
          <p:nvPr/>
        </p:nvSpPr>
        <p:spPr>
          <a:xfrm>
            <a:off x="8686800" y="3374136"/>
            <a:ext cx="2560320" cy="548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Fictional student records</a:t>
            </a:r>
            <a:endParaRPr lang="en-US" sz="2000" dirty="0"/>
          </a:p>
        </p:txBody>
      </p:sp>
      <p:sp>
        <p:nvSpPr>
          <p:cNvPr id="13" name="Text 11"/>
          <p:cNvSpPr/>
          <p:nvPr/>
        </p:nvSpPr>
        <p:spPr>
          <a:xfrm>
            <a:off x="7132320" y="4197096"/>
            <a:ext cx="1371600" cy="731520"/>
          </a:xfrm>
          <a:prstGeom prst="rect">
            <a:avLst/>
          </a:prstGeom>
          <a:noFill/>
          <a:ln/>
        </p:spPr>
        <p:txBody>
          <a:bodyPr wrap="square" lIns="0" tIns="0" rIns="0" bIns="0" rtlCol="0" anchor="t"/>
          <a:lstStyle/>
          <a:p>
            <a:pPr indent="0" marL="0">
              <a:buNone/>
            </a:pPr>
            <a:r>
              <a:rPr lang="en-US" sz="4600" b="1" dirty="0">
                <a:solidFill>
                  <a:srgbClr val="B2E9C2"/>
                </a:solidFill>
                <a:latin typeface="Trebuchet MS" pitchFamily="34" charset="0"/>
                <a:ea typeface="Trebuchet MS" pitchFamily="34" charset="-122"/>
                <a:cs typeface="Trebuchet MS" pitchFamily="34" charset="-120"/>
              </a:rPr>
              <a:t>02</a:t>
            </a:r>
            <a:endParaRPr lang="en-US" sz="4600" dirty="0"/>
          </a:p>
        </p:txBody>
      </p:sp>
      <p:sp>
        <p:nvSpPr>
          <p:cNvPr id="14" name="Text 12"/>
          <p:cNvSpPr/>
          <p:nvPr/>
        </p:nvSpPr>
        <p:spPr>
          <a:xfrm>
            <a:off x="8686800" y="4398264"/>
            <a:ext cx="2560320" cy="548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Explainable risk flags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PROJECT DOCUMENTATION</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 guide to the complete student story</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02</a:t>
            </a:r>
            <a:endParaRPr lang="en-US" sz="1100" dirty="0"/>
          </a:p>
        </p:txBody>
      </p:sp>
      <p:sp>
        <p:nvSpPr>
          <p:cNvPr id="6" name="Shape 4"/>
          <p:cNvSpPr/>
          <p:nvPr/>
        </p:nvSpPr>
        <p:spPr>
          <a:xfrm>
            <a:off x="502920" y="1920240"/>
            <a:ext cx="5394960" cy="1783080"/>
          </a:xfrm>
          <a:prstGeom prst="rect">
            <a:avLst/>
          </a:prstGeom>
          <a:solidFill>
            <a:srgbClr val="FFFFFF"/>
          </a:solidFill>
          <a:ln w="12700">
            <a:solidFill>
              <a:srgbClr val="FFFFFF"/>
            </a:solidFill>
            <a:prstDash val="solid"/>
          </a:ln>
        </p:spPr>
      </p:sp>
      <p:sp>
        <p:nvSpPr>
          <p:cNvPr id="7" name="Shape 5"/>
          <p:cNvSpPr/>
          <p:nvPr/>
        </p:nvSpPr>
        <p:spPr>
          <a:xfrm>
            <a:off x="502920" y="1920240"/>
            <a:ext cx="64008" cy="1783080"/>
          </a:xfrm>
          <a:prstGeom prst="rect">
            <a:avLst/>
          </a:prstGeom>
          <a:solidFill>
            <a:srgbClr val="007F60"/>
          </a:solidFill>
          <a:ln w="12700">
            <a:solidFill>
              <a:srgbClr val="007F60"/>
            </a:solidFill>
            <a:prstDash val="solid"/>
          </a:ln>
        </p:spPr>
      </p:sp>
      <p:sp>
        <p:nvSpPr>
          <p:cNvPr id="8" name="Text 6"/>
          <p:cNvSpPr/>
          <p:nvPr/>
        </p:nvSpPr>
        <p:spPr>
          <a:xfrm>
            <a:off x="704088" y="2057400"/>
            <a:ext cx="501091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01  Challenge &amp; design</a:t>
            </a:r>
            <a:endParaRPr lang="en-US" sz="2100" dirty="0"/>
          </a:p>
        </p:txBody>
      </p:sp>
      <p:sp>
        <p:nvSpPr>
          <p:cNvPr id="9" name="Text 7"/>
          <p:cNvSpPr/>
          <p:nvPr/>
        </p:nvSpPr>
        <p:spPr>
          <a:xfrm>
            <a:off x="704088" y="2898648"/>
            <a:ext cx="499262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Why fragmented campus data delays support.</a:t>
            </a:r>
            <a:endParaRPr lang="en-US" sz="1800" dirty="0"/>
          </a:p>
        </p:txBody>
      </p:sp>
      <p:sp>
        <p:nvSpPr>
          <p:cNvPr id="10" name="Shape 8"/>
          <p:cNvSpPr/>
          <p:nvPr/>
        </p:nvSpPr>
        <p:spPr>
          <a:xfrm>
            <a:off x="6172200" y="1920240"/>
            <a:ext cx="5394960" cy="1783080"/>
          </a:xfrm>
          <a:prstGeom prst="rect">
            <a:avLst/>
          </a:prstGeom>
          <a:solidFill>
            <a:srgbClr val="FFFFFF"/>
          </a:solidFill>
          <a:ln w="12700">
            <a:solidFill>
              <a:srgbClr val="FFFFFF"/>
            </a:solidFill>
            <a:prstDash val="solid"/>
          </a:ln>
        </p:spPr>
      </p:sp>
      <p:sp>
        <p:nvSpPr>
          <p:cNvPr id="11" name="Shape 9"/>
          <p:cNvSpPr/>
          <p:nvPr/>
        </p:nvSpPr>
        <p:spPr>
          <a:xfrm>
            <a:off x="6172200" y="1920240"/>
            <a:ext cx="64008" cy="1783080"/>
          </a:xfrm>
          <a:prstGeom prst="rect">
            <a:avLst/>
          </a:prstGeom>
          <a:solidFill>
            <a:srgbClr val="007F60"/>
          </a:solidFill>
          <a:ln w="12700">
            <a:solidFill>
              <a:srgbClr val="007F60"/>
            </a:solidFill>
            <a:prstDash val="solid"/>
          </a:ln>
        </p:spPr>
      </p:sp>
      <p:sp>
        <p:nvSpPr>
          <p:cNvPr id="12" name="Text 10"/>
          <p:cNvSpPr/>
          <p:nvPr/>
        </p:nvSpPr>
        <p:spPr>
          <a:xfrm>
            <a:off x="6373368" y="2057400"/>
            <a:ext cx="501091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02  How it works</a:t>
            </a:r>
            <a:endParaRPr lang="en-US" sz="2100" dirty="0"/>
          </a:p>
        </p:txBody>
      </p:sp>
      <p:sp>
        <p:nvSpPr>
          <p:cNvPr id="13" name="Text 11"/>
          <p:cNvSpPr/>
          <p:nvPr/>
        </p:nvSpPr>
        <p:spPr>
          <a:xfrm>
            <a:off x="6373368" y="2898648"/>
            <a:ext cx="499262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Linked records, weighted scoring and dual flags.</a:t>
            </a:r>
            <a:endParaRPr lang="en-US" sz="1800" dirty="0"/>
          </a:p>
        </p:txBody>
      </p:sp>
      <p:sp>
        <p:nvSpPr>
          <p:cNvPr id="14" name="Shape 12"/>
          <p:cNvSpPr/>
          <p:nvPr/>
        </p:nvSpPr>
        <p:spPr>
          <a:xfrm>
            <a:off x="502920" y="4023360"/>
            <a:ext cx="5394960" cy="1783080"/>
          </a:xfrm>
          <a:prstGeom prst="rect">
            <a:avLst/>
          </a:prstGeom>
          <a:solidFill>
            <a:srgbClr val="FFFFFF"/>
          </a:solidFill>
          <a:ln w="12700">
            <a:solidFill>
              <a:srgbClr val="FFFFFF"/>
            </a:solidFill>
            <a:prstDash val="solid"/>
          </a:ln>
        </p:spPr>
      </p:sp>
      <p:sp>
        <p:nvSpPr>
          <p:cNvPr id="15" name="Shape 13"/>
          <p:cNvSpPr/>
          <p:nvPr/>
        </p:nvSpPr>
        <p:spPr>
          <a:xfrm>
            <a:off x="502920" y="4023360"/>
            <a:ext cx="64008" cy="1783080"/>
          </a:xfrm>
          <a:prstGeom prst="rect">
            <a:avLst/>
          </a:prstGeom>
          <a:solidFill>
            <a:srgbClr val="007F60"/>
          </a:solidFill>
          <a:ln w="12700">
            <a:solidFill>
              <a:srgbClr val="007F60"/>
            </a:solidFill>
            <a:prstDash val="solid"/>
          </a:ln>
        </p:spPr>
      </p:sp>
      <p:sp>
        <p:nvSpPr>
          <p:cNvPr id="16" name="Text 14"/>
          <p:cNvSpPr/>
          <p:nvPr/>
        </p:nvSpPr>
        <p:spPr>
          <a:xfrm>
            <a:off x="704088" y="4160520"/>
            <a:ext cx="501091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03  Feature tour</a:t>
            </a:r>
            <a:endParaRPr lang="en-US" sz="2100" dirty="0"/>
          </a:p>
        </p:txBody>
      </p:sp>
      <p:sp>
        <p:nvSpPr>
          <p:cNvPr id="17" name="Text 15"/>
          <p:cNvSpPr/>
          <p:nvPr/>
        </p:nvSpPr>
        <p:spPr>
          <a:xfrm>
            <a:off x="704088" y="5001768"/>
            <a:ext cx="499262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Student, faculty, admin and guided entry.</a:t>
            </a:r>
            <a:endParaRPr lang="en-US" sz="1800" dirty="0"/>
          </a:p>
        </p:txBody>
      </p:sp>
      <p:sp>
        <p:nvSpPr>
          <p:cNvPr id="18" name="Shape 16"/>
          <p:cNvSpPr/>
          <p:nvPr/>
        </p:nvSpPr>
        <p:spPr>
          <a:xfrm>
            <a:off x="6172200" y="4023360"/>
            <a:ext cx="5394960" cy="1783080"/>
          </a:xfrm>
          <a:prstGeom prst="rect">
            <a:avLst/>
          </a:prstGeom>
          <a:solidFill>
            <a:srgbClr val="FFFFFF"/>
          </a:solidFill>
          <a:ln w="12700">
            <a:solidFill>
              <a:srgbClr val="FFFFFF"/>
            </a:solidFill>
            <a:prstDash val="solid"/>
          </a:ln>
        </p:spPr>
      </p:sp>
      <p:sp>
        <p:nvSpPr>
          <p:cNvPr id="19" name="Shape 17"/>
          <p:cNvSpPr/>
          <p:nvPr/>
        </p:nvSpPr>
        <p:spPr>
          <a:xfrm>
            <a:off x="6172200" y="4023360"/>
            <a:ext cx="64008" cy="1783080"/>
          </a:xfrm>
          <a:prstGeom prst="rect">
            <a:avLst/>
          </a:prstGeom>
          <a:solidFill>
            <a:srgbClr val="007F60"/>
          </a:solidFill>
          <a:ln w="12700">
            <a:solidFill>
              <a:srgbClr val="007F60"/>
            </a:solidFill>
            <a:prstDash val="solid"/>
          </a:ln>
        </p:spPr>
      </p:sp>
      <p:sp>
        <p:nvSpPr>
          <p:cNvPr id="20" name="Text 18"/>
          <p:cNvSpPr/>
          <p:nvPr/>
        </p:nvSpPr>
        <p:spPr>
          <a:xfrm>
            <a:off x="6373368" y="4160520"/>
            <a:ext cx="501091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04  Evidence &amp; gaps</a:t>
            </a:r>
            <a:endParaRPr lang="en-US" sz="2100" dirty="0"/>
          </a:p>
        </p:txBody>
      </p:sp>
      <p:sp>
        <p:nvSpPr>
          <p:cNvPr id="21" name="Text 19"/>
          <p:cNvSpPr/>
          <p:nvPr/>
        </p:nvSpPr>
        <p:spPr>
          <a:xfrm>
            <a:off x="6373368" y="5001768"/>
            <a:ext cx="499262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Tests, requirement mapping and next phases.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CHALLENGE</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The challenge: connect signals before support is late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03</a:t>
            </a:r>
            <a:endParaRPr lang="en-US" sz="1100" dirty="0"/>
          </a:p>
        </p:txBody>
      </p:sp>
      <p:sp>
        <p:nvSpPr>
          <p:cNvPr id="6" name="Shape 4"/>
          <p:cNvSpPr/>
          <p:nvPr/>
        </p:nvSpPr>
        <p:spPr>
          <a:xfrm>
            <a:off x="502920" y="1874520"/>
            <a:ext cx="3520440" cy="3383280"/>
          </a:xfrm>
          <a:prstGeom prst="rect">
            <a:avLst/>
          </a:prstGeom>
          <a:solidFill>
            <a:srgbClr val="FFFFFF"/>
          </a:solidFill>
          <a:ln w="12700">
            <a:solidFill>
              <a:srgbClr val="FFFFFF"/>
            </a:solidFill>
            <a:prstDash val="solid"/>
          </a:ln>
        </p:spPr>
      </p:sp>
      <p:sp>
        <p:nvSpPr>
          <p:cNvPr id="7" name="Shape 5"/>
          <p:cNvSpPr/>
          <p:nvPr/>
        </p:nvSpPr>
        <p:spPr>
          <a:xfrm>
            <a:off x="502920" y="1874520"/>
            <a:ext cx="64008" cy="3383280"/>
          </a:xfrm>
          <a:prstGeom prst="rect">
            <a:avLst/>
          </a:prstGeom>
          <a:solidFill>
            <a:srgbClr val="007F60"/>
          </a:solidFill>
          <a:ln w="12700">
            <a:solidFill>
              <a:srgbClr val="007F60"/>
            </a:solidFill>
            <a:prstDash val="solid"/>
          </a:ln>
        </p:spPr>
      </p:sp>
      <p:sp>
        <p:nvSpPr>
          <p:cNvPr id="8" name="Text 6"/>
          <p:cNvSpPr/>
          <p:nvPr/>
        </p:nvSpPr>
        <p:spPr>
          <a:xfrm>
            <a:off x="70408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Disconnected records</a:t>
            </a:r>
            <a:endParaRPr lang="en-US" sz="2100" dirty="0"/>
          </a:p>
        </p:txBody>
      </p:sp>
      <p:sp>
        <p:nvSpPr>
          <p:cNvPr id="9" name="Text 7"/>
          <p:cNvSpPr/>
          <p:nvPr/>
        </p:nvSpPr>
        <p:spPr>
          <a:xfrm>
            <a:off x="704088" y="2852928"/>
            <a:ext cx="3118104" cy="22860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Grades, attendance, learning activity and placement preparation live in different systems.</a:t>
            </a:r>
            <a:endParaRPr lang="en-US" sz="1800" dirty="0"/>
          </a:p>
        </p:txBody>
      </p:sp>
      <p:sp>
        <p:nvSpPr>
          <p:cNvPr id="10" name="Shape 8"/>
          <p:cNvSpPr/>
          <p:nvPr/>
        </p:nvSpPr>
        <p:spPr>
          <a:xfrm>
            <a:off x="4343400" y="1874520"/>
            <a:ext cx="3520440" cy="3383280"/>
          </a:xfrm>
          <a:prstGeom prst="rect">
            <a:avLst/>
          </a:prstGeom>
          <a:solidFill>
            <a:srgbClr val="FFFFFF"/>
          </a:solidFill>
          <a:ln w="12700">
            <a:solidFill>
              <a:srgbClr val="FFFFFF"/>
            </a:solidFill>
            <a:prstDash val="solid"/>
          </a:ln>
        </p:spPr>
      </p:sp>
      <p:sp>
        <p:nvSpPr>
          <p:cNvPr id="11" name="Shape 9"/>
          <p:cNvSpPr/>
          <p:nvPr/>
        </p:nvSpPr>
        <p:spPr>
          <a:xfrm>
            <a:off x="4343400" y="1874520"/>
            <a:ext cx="64008" cy="3383280"/>
          </a:xfrm>
          <a:prstGeom prst="rect">
            <a:avLst/>
          </a:prstGeom>
          <a:solidFill>
            <a:srgbClr val="007F60"/>
          </a:solidFill>
          <a:ln w="12700">
            <a:solidFill>
              <a:srgbClr val="007F60"/>
            </a:solidFill>
            <a:prstDash val="solid"/>
          </a:ln>
        </p:spPr>
      </p:sp>
      <p:sp>
        <p:nvSpPr>
          <p:cNvPr id="12" name="Text 10"/>
          <p:cNvSpPr/>
          <p:nvPr/>
        </p:nvSpPr>
        <p:spPr>
          <a:xfrm>
            <a:off x="454456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A misleading single number</a:t>
            </a:r>
            <a:endParaRPr lang="en-US" sz="2100" dirty="0"/>
          </a:p>
        </p:txBody>
      </p:sp>
      <p:sp>
        <p:nvSpPr>
          <p:cNvPr id="13" name="Text 11"/>
          <p:cNvSpPr/>
          <p:nvPr/>
        </p:nvSpPr>
        <p:spPr>
          <a:xfrm>
            <a:off x="4544568" y="2852928"/>
            <a:ext cx="3118104" cy="22860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Strong marks can conceal weak attendance or readiness. A score alone is not a diagnosis.</a:t>
            </a:r>
            <a:endParaRPr lang="en-US" sz="1800" dirty="0"/>
          </a:p>
        </p:txBody>
      </p:sp>
      <p:sp>
        <p:nvSpPr>
          <p:cNvPr id="14" name="Shape 12"/>
          <p:cNvSpPr/>
          <p:nvPr/>
        </p:nvSpPr>
        <p:spPr>
          <a:xfrm>
            <a:off x="8183880" y="1874520"/>
            <a:ext cx="3520440" cy="3383280"/>
          </a:xfrm>
          <a:prstGeom prst="rect">
            <a:avLst/>
          </a:prstGeom>
          <a:solidFill>
            <a:srgbClr val="FFFFFF"/>
          </a:solidFill>
          <a:ln w="12700">
            <a:solidFill>
              <a:srgbClr val="FFFFFF"/>
            </a:solidFill>
            <a:prstDash val="solid"/>
          </a:ln>
        </p:spPr>
      </p:sp>
      <p:sp>
        <p:nvSpPr>
          <p:cNvPr id="15" name="Shape 13"/>
          <p:cNvSpPr/>
          <p:nvPr/>
        </p:nvSpPr>
        <p:spPr>
          <a:xfrm>
            <a:off x="8183880" y="1874520"/>
            <a:ext cx="64008" cy="3383280"/>
          </a:xfrm>
          <a:prstGeom prst="rect">
            <a:avLst/>
          </a:prstGeom>
          <a:solidFill>
            <a:srgbClr val="007F60"/>
          </a:solidFill>
          <a:ln w="12700">
            <a:solidFill>
              <a:srgbClr val="007F60"/>
            </a:solidFill>
            <a:prstDash val="solid"/>
          </a:ln>
        </p:spPr>
      </p:sp>
      <p:sp>
        <p:nvSpPr>
          <p:cNvPr id="16" name="Text 14"/>
          <p:cNvSpPr/>
          <p:nvPr/>
        </p:nvSpPr>
        <p:spPr>
          <a:xfrm>
            <a:off x="838504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No clear next step</a:t>
            </a:r>
            <a:endParaRPr lang="en-US" sz="2100" dirty="0"/>
          </a:p>
        </p:txBody>
      </p:sp>
      <p:sp>
        <p:nvSpPr>
          <p:cNvPr id="17" name="Text 15"/>
          <p:cNvSpPr/>
          <p:nvPr/>
        </p:nvSpPr>
        <p:spPr>
          <a:xfrm>
            <a:off x="8385048" y="2852928"/>
            <a:ext cx="3118104" cy="22860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Mentors need evidence, ownership and follow-up—not another dashboard of unexplained alerts.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SOLUTION</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Three questions become one support workflow</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04</a:t>
            </a:r>
            <a:endParaRPr lang="en-US" sz="1100" dirty="0"/>
          </a:p>
        </p:txBody>
      </p:sp>
      <p:sp>
        <p:nvSpPr>
          <p:cNvPr id="6" name="Shape 4"/>
          <p:cNvSpPr/>
          <p:nvPr/>
        </p:nvSpPr>
        <p:spPr>
          <a:xfrm>
            <a:off x="502920" y="1874520"/>
            <a:ext cx="3520440" cy="3566160"/>
          </a:xfrm>
          <a:prstGeom prst="rect">
            <a:avLst/>
          </a:prstGeom>
          <a:solidFill>
            <a:srgbClr val="FFFFFF"/>
          </a:solidFill>
          <a:ln w="12700">
            <a:solidFill>
              <a:srgbClr val="FFFFFF"/>
            </a:solidFill>
            <a:prstDash val="solid"/>
          </a:ln>
        </p:spPr>
      </p:sp>
      <p:sp>
        <p:nvSpPr>
          <p:cNvPr id="7" name="Shape 5"/>
          <p:cNvSpPr/>
          <p:nvPr/>
        </p:nvSpPr>
        <p:spPr>
          <a:xfrm>
            <a:off x="502920" y="1874520"/>
            <a:ext cx="64008" cy="3566160"/>
          </a:xfrm>
          <a:prstGeom prst="rect">
            <a:avLst/>
          </a:prstGeom>
          <a:solidFill>
            <a:srgbClr val="007F60"/>
          </a:solidFill>
          <a:ln w="12700">
            <a:solidFill>
              <a:srgbClr val="007F60"/>
            </a:solidFill>
            <a:prstDash val="solid"/>
          </a:ln>
        </p:spPr>
      </p:sp>
      <p:sp>
        <p:nvSpPr>
          <p:cNvPr id="8" name="Text 6"/>
          <p:cNvSpPr/>
          <p:nvPr/>
        </p:nvSpPr>
        <p:spPr>
          <a:xfrm>
            <a:off x="70408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Who needs help?</a:t>
            </a:r>
            <a:endParaRPr lang="en-US" sz="2100" dirty="0"/>
          </a:p>
        </p:txBody>
      </p:sp>
      <p:sp>
        <p:nvSpPr>
          <p:cNvPr id="9" name="Text 7"/>
          <p:cNvSpPr/>
          <p:nvPr/>
        </p:nvSpPr>
        <p:spPr>
          <a:xfrm>
            <a:off x="704088" y="2852928"/>
            <a:ext cx="3118104" cy="246888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Use the Success Score, both risk flags and missing-data warnings to prioritize review.</a:t>
            </a:r>
            <a:endParaRPr lang="en-US" sz="1800" dirty="0"/>
          </a:p>
        </p:txBody>
      </p:sp>
      <p:sp>
        <p:nvSpPr>
          <p:cNvPr id="10" name="Shape 8"/>
          <p:cNvSpPr/>
          <p:nvPr/>
        </p:nvSpPr>
        <p:spPr>
          <a:xfrm>
            <a:off x="4325112" y="1874520"/>
            <a:ext cx="3520440" cy="3566160"/>
          </a:xfrm>
          <a:prstGeom prst="rect">
            <a:avLst/>
          </a:prstGeom>
          <a:solidFill>
            <a:srgbClr val="FFFFFF"/>
          </a:solidFill>
          <a:ln w="12700">
            <a:solidFill>
              <a:srgbClr val="FFFFFF"/>
            </a:solidFill>
            <a:prstDash val="solid"/>
          </a:ln>
        </p:spPr>
      </p:sp>
      <p:sp>
        <p:nvSpPr>
          <p:cNvPr id="11" name="Shape 9"/>
          <p:cNvSpPr/>
          <p:nvPr/>
        </p:nvSpPr>
        <p:spPr>
          <a:xfrm>
            <a:off x="4325112" y="1874520"/>
            <a:ext cx="64008" cy="3566160"/>
          </a:xfrm>
          <a:prstGeom prst="rect">
            <a:avLst/>
          </a:prstGeom>
          <a:solidFill>
            <a:srgbClr val="007F60"/>
          </a:solidFill>
          <a:ln w="12700">
            <a:solidFill>
              <a:srgbClr val="007F60"/>
            </a:solidFill>
            <a:prstDash val="solid"/>
          </a:ln>
        </p:spPr>
      </p:sp>
      <p:sp>
        <p:nvSpPr>
          <p:cNvPr id="12" name="Text 10"/>
          <p:cNvSpPr/>
          <p:nvPr/>
        </p:nvSpPr>
        <p:spPr>
          <a:xfrm>
            <a:off x="4526280"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Why are they at risk?</a:t>
            </a:r>
            <a:endParaRPr lang="en-US" sz="2100" dirty="0"/>
          </a:p>
        </p:txBody>
      </p:sp>
      <p:sp>
        <p:nvSpPr>
          <p:cNvPr id="13" name="Text 11"/>
          <p:cNvSpPr/>
          <p:nvPr/>
        </p:nvSpPr>
        <p:spPr>
          <a:xfrm>
            <a:off x="4526280" y="2852928"/>
            <a:ext cx="3118104" cy="246888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Show the measured value, threshold and points behind every triggered rule.</a:t>
            </a:r>
            <a:endParaRPr lang="en-US" sz="1800" dirty="0"/>
          </a:p>
        </p:txBody>
      </p:sp>
      <p:sp>
        <p:nvSpPr>
          <p:cNvPr id="14" name="Shape 12"/>
          <p:cNvSpPr/>
          <p:nvPr/>
        </p:nvSpPr>
        <p:spPr>
          <a:xfrm>
            <a:off x="8147304" y="1874520"/>
            <a:ext cx="3520440" cy="3566160"/>
          </a:xfrm>
          <a:prstGeom prst="rect">
            <a:avLst/>
          </a:prstGeom>
          <a:solidFill>
            <a:srgbClr val="FFFFFF"/>
          </a:solidFill>
          <a:ln w="12700">
            <a:solidFill>
              <a:srgbClr val="FFFFFF"/>
            </a:solidFill>
            <a:prstDash val="solid"/>
          </a:ln>
        </p:spPr>
      </p:sp>
      <p:sp>
        <p:nvSpPr>
          <p:cNvPr id="15" name="Shape 13"/>
          <p:cNvSpPr/>
          <p:nvPr/>
        </p:nvSpPr>
        <p:spPr>
          <a:xfrm>
            <a:off x="8147304" y="1874520"/>
            <a:ext cx="64008" cy="3566160"/>
          </a:xfrm>
          <a:prstGeom prst="rect">
            <a:avLst/>
          </a:prstGeom>
          <a:solidFill>
            <a:srgbClr val="007F60"/>
          </a:solidFill>
          <a:ln w="12700">
            <a:solidFill>
              <a:srgbClr val="007F60"/>
            </a:solidFill>
            <a:prstDash val="solid"/>
          </a:ln>
        </p:spPr>
      </p:sp>
      <p:sp>
        <p:nvSpPr>
          <p:cNvPr id="16" name="Text 14"/>
          <p:cNvSpPr/>
          <p:nvPr/>
        </p:nvSpPr>
        <p:spPr>
          <a:xfrm>
            <a:off x="8348472"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What should faculty do next?</a:t>
            </a:r>
            <a:endParaRPr lang="en-US" sz="2100" dirty="0"/>
          </a:p>
        </p:txBody>
      </p:sp>
      <p:sp>
        <p:nvSpPr>
          <p:cNvPr id="17" name="Text 15"/>
          <p:cNvSpPr/>
          <p:nvPr/>
        </p:nvSpPr>
        <p:spPr>
          <a:xfrm>
            <a:off x="8348472" y="2852928"/>
            <a:ext cx="3118104" cy="246888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Turn evidence into a reason, action, owner, priority and follow-up date.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CHALLENGE ALIGNMENT</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How the implementation maps to the judging focus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05</a:t>
            </a:r>
            <a:endParaRPr lang="en-US" sz="1100" dirty="0"/>
          </a:p>
        </p:txBody>
      </p:sp>
      <p:sp>
        <p:nvSpPr>
          <p:cNvPr id="6" name="Shape 4"/>
          <p:cNvSpPr/>
          <p:nvPr/>
        </p:nvSpPr>
        <p:spPr>
          <a:xfrm>
            <a:off x="502920" y="1874520"/>
            <a:ext cx="3520440" cy="3383280"/>
          </a:xfrm>
          <a:prstGeom prst="rect">
            <a:avLst/>
          </a:prstGeom>
          <a:solidFill>
            <a:srgbClr val="FFFFFF"/>
          </a:solidFill>
          <a:ln w="12700">
            <a:solidFill>
              <a:srgbClr val="FFFFFF"/>
            </a:solidFill>
            <a:prstDash val="solid"/>
          </a:ln>
        </p:spPr>
      </p:sp>
      <p:sp>
        <p:nvSpPr>
          <p:cNvPr id="7" name="Shape 5"/>
          <p:cNvSpPr/>
          <p:nvPr/>
        </p:nvSpPr>
        <p:spPr>
          <a:xfrm>
            <a:off x="502920" y="1874520"/>
            <a:ext cx="64008" cy="3383280"/>
          </a:xfrm>
          <a:prstGeom prst="rect">
            <a:avLst/>
          </a:prstGeom>
          <a:solidFill>
            <a:srgbClr val="007F60"/>
          </a:solidFill>
          <a:ln w="12700">
            <a:solidFill>
              <a:srgbClr val="007F60"/>
            </a:solidFill>
            <a:prstDash val="solid"/>
          </a:ln>
        </p:spPr>
      </p:sp>
      <p:sp>
        <p:nvSpPr>
          <p:cNvPr id="8" name="Text 6"/>
          <p:cNvSpPr/>
          <p:nvPr/>
        </p:nvSpPr>
        <p:spPr>
          <a:xfrm>
            <a:off x="70408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30%  Data integration</a:t>
            </a:r>
            <a:endParaRPr lang="en-US" sz="2100" dirty="0"/>
          </a:p>
        </p:txBody>
      </p:sp>
      <p:sp>
        <p:nvSpPr>
          <p:cNvPr id="9" name="Text 7"/>
          <p:cNvSpPr/>
          <p:nvPr/>
        </p:nvSpPr>
        <p:spPr>
          <a:xfrm>
            <a:off x="704088" y="2852928"/>
            <a:ext cx="3118104" cy="22860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Shared student ID; seven sources; quality overview; cross-source patterns.</a:t>
            </a:r>
            <a:endParaRPr lang="en-US" sz="1800" dirty="0"/>
          </a:p>
        </p:txBody>
      </p:sp>
      <p:sp>
        <p:nvSpPr>
          <p:cNvPr id="10" name="Shape 8"/>
          <p:cNvSpPr/>
          <p:nvPr/>
        </p:nvSpPr>
        <p:spPr>
          <a:xfrm>
            <a:off x="4325112" y="1874520"/>
            <a:ext cx="3520440" cy="3383280"/>
          </a:xfrm>
          <a:prstGeom prst="rect">
            <a:avLst/>
          </a:prstGeom>
          <a:solidFill>
            <a:srgbClr val="FFFFFF"/>
          </a:solidFill>
          <a:ln w="12700">
            <a:solidFill>
              <a:srgbClr val="FFFFFF"/>
            </a:solidFill>
            <a:prstDash val="solid"/>
          </a:ln>
        </p:spPr>
      </p:sp>
      <p:sp>
        <p:nvSpPr>
          <p:cNvPr id="11" name="Shape 9"/>
          <p:cNvSpPr/>
          <p:nvPr/>
        </p:nvSpPr>
        <p:spPr>
          <a:xfrm>
            <a:off x="4325112" y="1874520"/>
            <a:ext cx="64008" cy="3383280"/>
          </a:xfrm>
          <a:prstGeom prst="rect">
            <a:avLst/>
          </a:prstGeom>
          <a:solidFill>
            <a:srgbClr val="007F60"/>
          </a:solidFill>
          <a:ln w="12700">
            <a:solidFill>
              <a:srgbClr val="007F60"/>
            </a:solidFill>
            <a:prstDash val="solid"/>
          </a:ln>
        </p:spPr>
      </p:sp>
      <p:sp>
        <p:nvSpPr>
          <p:cNvPr id="12" name="Text 10"/>
          <p:cNvSpPr/>
          <p:nvPr/>
        </p:nvSpPr>
        <p:spPr>
          <a:xfrm>
            <a:off x="4526280"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25%  Scoring &amp; risk</a:t>
            </a:r>
            <a:endParaRPr lang="en-US" sz="2100" dirty="0"/>
          </a:p>
        </p:txBody>
      </p:sp>
      <p:sp>
        <p:nvSpPr>
          <p:cNvPr id="13" name="Text 11"/>
          <p:cNvSpPr/>
          <p:nvPr/>
        </p:nvSpPr>
        <p:spPr>
          <a:xfrm>
            <a:off x="4526280" y="2852928"/>
            <a:ext cx="3118104" cy="22860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Weighted available-data score; Academic and Placement flags; visible drivers.</a:t>
            </a:r>
            <a:endParaRPr lang="en-US" sz="1800" dirty="0"/>
          </a:p>
        </p:txBody>
      </p:sp>
      <p:sp>
        <p:nvSpPr>
          <p:cNvPr id="14" name="Shape 12"/>
          <p:cNvSpPr/>
          <p:nvPr/>
        </p:nvSpPr>
        <p:spPr>
          <a:xfrm>
            <a:off x="8147304" y="1874520"/>
            <a:ext cx="3520440" cy="3383280"/>
          </a:xfrm>
          <a:prstGeom prst="rect">
            <a:avLst/>
          </a:prstGeom>
          <a:solidFill>
            <a:srgbClr val="FFFFFF"/>
          </a:solidFill>
          <a:ln w="12700">
            <a:solidFill>
              <a:srgbClr val="FFFFFF"/>
            </a:solidFill>
            <a:prstDash val="solid"/>
          </a:ln>
        </p:spPr>
      </p:sp>
      <p:sp>
        <p:nvSpPr>
          <p:cNvPr id="15" name="Shape 13"/>
          <p:cNvSpPr/>
          <p:nvPr/>
        </p:nvSpPr>
        <p:spPr>
          <a:xfrm>
            <a:off x="8147304" y="1874520"/>
            <a:ext cx="64008" cy="3383280"/>
          </a:xfrm>
          <a:prstGeom prst="rect">
            <a:avLst/>
          </a:prstGeom>
          <a:solidFill>
            <a:srgbClr val="007F60"/>
          </a:solidFill>
          <a:ln w="12700">
            <a:solidFill>
              <a:srgbClr val="007F60"/>
            </a:solidFill>
            <a:prstDash val="solid"/>
          </a:ln>
        </p:spPr>
      </p:sp>
      <p:sp>
        <p:nvSpPr>
          <p:cNvPr id="16" name="Text 14"/>
          <p:cNvSpPr/>
          <p:nvPr/>
        </p:nvSpPr>
        <p:spPr>
          <a:xfrm>
            <a:off x="8348472"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25%  Dashboards</a:t>
            </a:r>
            <a:endParaRPr lang="en-US" sz="2100" dirty="0"/>
          </a:p>
        </p:txBody>
      </p:sp>
      <p:sp>
        <p:nvSpPr>
          <p:cNvPr id="17" name="Text 15"/>
          <p:cNvSpPr/>
          <p:nvPr/>
        </p:nvSpPr>
        <p:spPr>
          <a:xfrm>
            <a:off x="8348472" y="2852928"/>
            <a:ext cx="3118104" cy="22860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Role-oriented views; charts, comparisons, filters and branch × flag heatmap.</a:t>
            </a:r>
            <a:endParaRPr lang="en-US" sz="1800" dirty="0"/>
          </a:p>
        </p:txBody>
      </p:sp>
      <p:sp>
        <p:nvSpPr>
          <p:cNvPr id="18" name="Text 16"/>
          <p:cNvSpPr/>
          <p:nvPr/>
        </p:nvSpPr>
        <p:spPr>
          <a:xfrm>
            <a:off x="594360" y="5650992"/>
            <a:ext cx="10972800" cy="594360"/>
          </a:xfrm>
          <a:prstGeom prst="rect">
            <a:avLst/>
          </a:prstGeom>
          <a:noFill/>
          <a:ln/>
        </p:spPr>
        <p:txBody>
          <a:bodyPr wrap="square" lIns="0" tIns="0" rIns="0" bIns="0" rtlCol="0" anchor="t"/>
          <a:lstStyle/>
          <a:p>
            <a:pPr indent="0" marL="0">
              <a:buNone/>
            </a:pPr>
            <a:r>
              <a:rPr lang="en-US" sz="1700" dirty="0">
                <a:solidFill>
                  <a:srgbClr val="526A63"/>
                </a:solidFill>
                <a:latin typeface="Calibri" pitchFamily="34" charset="0"/>
                <a:ea typeface="Calibri" pitchFamily="34" charset="-122"/>
                <a:cs typeface="Calibri" pitchFamily="34" charset="-120"/>
              </a:rPr>
              <a:t>Presentation/demo is listed as 10% in the supplied prompt; the three principal categories total 80%.</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HOW IT WORKS</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Seven sources → one student identity</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06</a:t>
            </a:r>
            <a:endParaRPr lang="en-US" sz="1100" dirty="0"/>
          </a:p>
        </p:txBody>
      </p:sp>
      <p:sp>
        <p:nvSpPr>
          <p:cNvPr id="6" name="Shape 4"/>
          <p:cNvSpPr/>
          <p:nvPr/>
        </p:nvSpPr>
        <p:spPr>
          <a:xfrm>
            <a:off x="502920" y="1874520"/>
            <a:ext cx="1463040" cy="640080"/>
          </a:xfrm>
          <a:prstGeom prst="rect">
            <a:avLst/>
          </a:prstGeom>
          <a:solidFill>
            <a:srgbClr val="DCEEE5"/>
          </a:solidFill>
          <a:ln w="12700">
            <a:solidFill>
              <a:srgbClr val="DCEEE5"/>
            </a:solidFill>
            <a:prstDash val="solid"/>
          </a:ln>
        </p:spPr>
      </p:sp>
      <p:sp>
        <p:nvSpPr>
          <p:cNvPr id="7" name="Text 5"/>
          <p:cNvSpPr/>
          <p:nvPr/>
        </p:nvSpPr>
        <p:spPr>
          <a:xfrm>
            <a:off x="594360" y="2057400"/>
            <a:ext cx="1298448" cy="274320"/>
          </a:xfrm>
          <a:prstGeom prst="rect">
            <a:avLst/>
          </a:prstGeom>
          <a:noFill/>
          <a:ln/>
        </p:spPr>
        <p:txBody>
          <a:bodyPr wrap="square" lIns="0" tIns="0" rIns="0" bIns="0" rtlCol="0" anchor="t"/>
          <a:lstStyle/>
          <a:p>
            <a:pPr indent="0" marL="0">
              <a:buNone/>
            </a:pPr>
            <a:r>
              <a:rPr lang="en-US" sz="1600" b="1" dirty="0">
                <a:solidFill>
                  <a:srgbClr val="123A32"/>
                </a:solidFill>
                <a:latin typeface="Trebuchet MS" pitchFamily="34" charset="0"/>
                <a:ea typeface="Trebuchet MS" pitchFamily="34" charset="-122"/>
                <a:cs typeface="Trebuchet MS" pitchFamily="34" charset="-120"/>
              </a:rPr>
              <a:t>Academics</a:t>
            </a:r>
            <a:endParaRPr lang="en-US" sz="1600" dirty="0"/>
          </a:p>
        </p:txBody>
      </p:sp>
      <p:sp>
        <p:nvSpPr>
          <p:cNvPr id="8" name="Shape 6"/>
          <p:cNvSpPr/>
          <p:nvPr/>
        </p:nvSpPr>
        <p:spPr>
          <a:xfrm>
            <a:off x="2121408" y="1874520"/>
            <a:ext cx="1463040" cy="640080"/>
          </a:xfrm>
          <a:prstGeom prst="rect">
            <a:avLst/>
          </a:prstGeom>
          <a:solidFill>
            <a:srgbClr val="DCEEE5"/>
          </a:solidFill>
          <a:ln w="12700">
            <a:solidFill>
              <a:srgbClr val="DCEEE5"/>
            </a:solidFill>
            <a:prstDash val="solid"/>
          </a:ln>
        </p:spPr>
      </p:sp>
      <p:sp>
        <p:nvSpPr>
          <p:cNvPr id="9" name="Text 7"/>
          <p:cNvSpPr/>
          <p:nvPr/>
        </p:nvSpPr>
        <p:spPr>
          <a:xfrm>
            <a:off x="2212848" y="2057400"/>
            <a:ext cx="1298448" cy="274320"/>
          </a:xfrm>
          <a:prstGeom prst="rect">
            <a:avLst/>
          </a:prstGeom>
          <a:noFill/>
          <a:ln/>
        </p:spPr>
        <p:txBody>
          <a:bodyPr wrap="square" lIns="0" tIns="0" rIns="0" bIns="0" rtlCol="0" anchor="t"/>
          <a:lstStyle/>
          <a:p>
            <a:pPr indent="0" marL="0">
              <a:buNone/>
            </a:pPr>
            <a:r>
              <a:rPr lang="en-US" sz="1600" b="1" dirty="0">
                <a:solidFill>
                  <a:srgbClr val="123A32"/>
                </a:solidFill>
                <a:latin typeface="Trebuchet MS" pitchFamily="34" charset="0"/>
                <a:ea typeface="Trebuchet MS" pitchFamily="34" charset="-122"/>
                <a:cs typeface="Trebuchet MS" pitchFamily="34" charset="-120"/>
              </a:rPr>
              <a:t>Attendance</a:t>
            </a:r>
            <a:endParaRPr lang="en-US" sz="1600" dirty="0"/>
          </a:p>
        </p:txBody>
      </p:sp>
      <p:sp>
        <p:nvSpPr>
          <p:cNvPr id="10" name="Shape 8"/>
          <p:cNvSpPr/>
          <p:nvPr/>
        </p:nvSpPr>
        <p:spPr>
          <a:xfrm>
            <a:off x="3739896" y="1874520"/>
            <a:ext cx="1463040" cy="640080"/>
          </a:xfrm>
          <a:prstGeom prst="rect">
            <a:avLst/>
          </a:prstGeom>
          <a:solidFill>
            <a:srgbClr val="DCEEE5"/>
          </a:solidFill>
          <a:ln w="12700">
            <a:solidFill>
              <a:srgbClr val="DCEEE5"/>
            </a:solidFill>
            <a:prstDash val="solid"/>
          </a:ln>
        </p:spPr>
      </p:sp>
      <p:sp>
        <p:nvSpPr>
          <p:cNvPr id="11" name="Text 9"/>
          <p:cNvSpPr/>
          <p:nvPr/>
        </p:nvSpPr>
        <p:spPr>
          <a:xfrm>
            <a:off x="3831336" y="2057400"/>
            <a:ext cx="1298448" cy="274320"/>
          </a:xfrm>
          <a:prstGeom prst="rect">
            <a:avLst/>
          </a:prstGeom>
          <a:noFill/>
          <a:ln/>
        </p:spPr>
        <p:txBody>
          <a:bodyPr wrap="square" lIns="0" tIns="0" rIns="0" bIns="0" rtlCol="0" anchor="t"/>
          <a:lstStyle/>
          <a:p>
            <a:pPr indent="0" marL="0">
              <a:buNone/>
            </a:pPr>
            <a:r>
              <a:rPr lang="en-US" sz="1600" b="1" dirty="0">
                <a:solidFill>
                  <a:srgbClr val="123A32"/>
                </a:solidFill>
                <a:latin typeface="Trebuchet MS" pitchFamily="34" charset="0"/>
                <a:ea typeface="Trebuchet MS" pitchFamily="34" charset="-122"/>
                <a:cs typeface="Trebuchet MS" pitchFamily="34" charset="-120"/>
              </a:rPr>
              <a:t>LMS</a:t>
            </a:r>
            <a:endParaRPr lang="en-US" sz="1600" dirty="0"/>
          </a:p>
        </p:txBody>
      </p:sp>
      <p:sp>
        <p:nvSpPr>
          <p:cNvPr id="12" name="Shape 10"/>
          <p:cNvSpPr/>
          <p:nvPr/>
        </p:nvSpPr>
        <p:spPr>
          <a:xfrm>
            <a:off x="5358384" y="1874520"/>
            <a:ext cx="1463040" cy="640080"/>
          </a:xfrm>
          <a:prstGeom prst="rect">
            <a:avLst/>
          </a:prstGeom>
          <a:solidFill>
            <a:srgbClr val="DCEEE5"/>
          </a:solidFill>
          <a:ln w="12700">
            <a:solidFill>
              <a:srgbClr val="DCEEE5"/>
            </a:solidFill>
            <a:prstDash val="solid"/>
          </a:ln>
        </p:spPr>
      </p:sp>
      <p:sp>
        <p:nvSpPr>
          <p:cNvPr id="13" name="Text 11"/>
          <p:cNvSpPr/>
          <p:nvPr/>
        </p:nvSpPr>
        <p:spPr>
          <a:xfrm>
            <a:off x="5449824" y="2057400"/>
            <a:ext cx="1298448" cy="274320"/>
          </a:xfrm>
          <a:prstGeom prst="rect">
            <a:avLst/>
          </a:prstGeom>
          <a:noFill/>
          <a:ln/>
        </p:spPr>
        <p:txBody>
          <a:bodyPr wrap="square" lIns="0" tIns="0" rIns="0" bIns="0" rtlCol="0" anchor="t"/>
          <a:lstStyle/>
          <a:p>
            <a:pPr indent="0" marL="0">
              <a:buNone/>
            </a:pPr>
            <a:r>
              <a:rPr lang="en-US" sz="1600" b="1" dirty="0">
                <a:solidFill>
                  <a:srgbClr val="123A32"/>
                </a:solidFill>
                <a:latin typeface="Trebuchet MS" pitchFamily="34" charset="0"/>
                <a:ea typeface="Trebuchet MS" pitchFamily="34" charset="-122"/>
                <a:cs typeface="Trebuchet MS" pitchFamily="34" charset="-120"/>
              </a:rPr>
              <a:t>Skills</a:t>
            </a:r>
            <a:endParaRPr lang="en-US" sz="1600" dirty="0"/>
          </a:p>
        </p:txBody>
      </p:sp>
      <p:sp>
        <p:nvSpPr>
          <p:cNvPr id="14" name="Shape 12"/>
          <p:cNvSpPr/>
          <p:nvPr/>
        </p:nvSpPr>
        <p:spPr>
          <a:xfrm>
            <a:off x="6976872" y="1874520"/>
            <a:ext cx="1463040" cy="640080"/>
          </a:xfrm>
          <a:prstGeom prst="rect">
            <a:avLst/>
          </a:prstGeom>
          <a:solidFill>
            <a:srgbClr val="DCEEE5"/>
          </a:solidFill>
          <a:ln w="12700">
            <a:solidFill>
              <a:srgbClr val="DCEEE5"/>
            </a:solidFill>
            <a:prstDash val="solid"/>
          </a:ln>
        </p:spPr>
      </p:sp>
      <p:sp>
        <p:nvSpPr>
          <p:cNvPr id="15" name="Text 13"/>
          <p:cNvSpPr/>
          <p:nvPr/>
        </p:nvSpPr>
        <p:spPr>
          <a:xfrm>
            <a:off x="7068312" y="2057400"/>
            <a:ext cx="1298448" cy="274320"/>
          </a:xfrm>
          <a:prstGeom prst="rect">
            <a:avLst/>
          </a:prstGeom>
          <a:noFill/>
          <a:ln/>
        </p:spPr>
        <p:txBody>
          <a:bodyPr wrap="square" lIns="0" tIns="0" rIns="0" bIns="0" rtlCol="0" anchor="t"/>
          <a:lstStyle/>
          <a:p>
            <a:pPr indent="0" marL="0">
              <a:buNone/>
            </a:pPr>
            <a:r>
              <a:rPr lang="en-US" sz="1600" b="1" dirty="0">
                <a:solidFill>
                  <a:srgbClr val="123A32"/>
                </a:solidFill>
                <a:latin typeface="Trebuchet MS" pitchFamily="34" charset="0"/>
                <a:ea typeface="Trebuchet MS" pitchFamily="34" charset="-122"/>
                <a:cs typeface="Trebuchet MS" pitchFamily="34" charset="-120"/>
              </a:rPr>
              <a:t>Engagement</a:t>
            </a:r>
            <a:endParaRPr lang="en-US" sz="1600" dirty="0"/>
          </a:p>
        </p:txBody>
      </p:sp>
      <p:sp>
        <p:nvSpPr>
          <p:cNvPr id="16" name="Shape 14"/>
          <p:cNvSpPr/>
          <p:nvPr/>
        </p:nvSpPr>
        <p:spPr>
          <a:xfrm>
            <a:off x="8595360" y="1874520"/>
            <a:ext cx="1463040" cy="640080"/>
          </a:xfrm>
          <a:prstGeom prst="rect">
            <a:avLst/>
          </a:prstGeom>
          <a:solidFill>
            <a:srgbClr val="DCEEE5"/>
          </a:solidFill>
          <a:ln w="12700">
            <a:solidFill>
              <a:srgbClr val="DCEEE5"/>
            </a:solidFill>
            <a:prstDash val="solid"/>
          </a:ln>
        </p:spPr>
      </p:sp>
      <p:sp>
        <p:nvSpPr>
          <p:cNvPr id="17" name="Text 15"/>
          <p:cNvSpPr/>
          <p:nvPr/>
        </p:nvSpPr>
        <p:spPr>
          <a:xfrm>
            <a:off x="8686800" y="2057400"/>
            <a:ext cx="1298448" cy="274320"/>
          </a:xfrm>
          <a:prstGeom prst="rect">
            <a:avLst/>
          </a:prstGeom>
          <a:noFill/>
          <a:ln/>
        </p:spPr>
        <p:txBody>
          <a:bodyPr wrap="square" lIns="0" tIns="0" rIns="0" bIns="0" rtlCol="0" anchor="t"/>
          <a:lstStyle/>
          <a:p>
            <a:pPr indent="0" marL="0">
              <a:buNone/>
            </a:pPr>
            <a:r>
              <a:rPr lang="en-US" sz="1600" b="1" dirty="0">
                <a:solidFill>
                  <a:srgbClr val="123A32"/>
                </a:solidFill>
                <a:latin typeface="Trebuchet MS" pitchFamily="34" charset="0"/>
                <a:ea typeface="Trebuchet MS" pitchFamily="34" charset="-122"/>
                <a:cs typeface="Trebuchet MS" pitchFamily="34" charset="-120"/>
              </a:rPr>
              <a:t>Placement</a:t>
            </a:r>
            <a:endParaRPr lang="en-US" sz="1600" dirty="0"/>
          </a:p>
        </p:txBody>
      </p:sp>
      <p:sp>
        <p:nvSpPr>
          <p:cNvPr id="18" name="Shape 16"/>
          <p:cNvSpPr/>
          <p:nvPr/>
        </p:nvSpPr>
        <p:spPr>
          <a:xfrm>
            <a:off x="10213848" y="1874520"/>
            <a:ext cx="1463040" cy="640080"/>
          </a:xfrm>
          <a:prstGeom prst="rect">
            <a:avLst/>
          </a:prstGeom>
          <a:solidFill>
            <a:srgbClr val="DCEEE5"/>
          </a:solidFill>
          <a:ln w="12700">
            <a:solidFill>
              <a:srgbClr val="DCEEE5"/>
            </a:solidFill>
            <a:prstDash val="solid"/>
          </a:ln>
        </p:spPr>
      </p:sp>
      <p:sp>
        <p:nvSpPr>
          <p:cNvPr id="19" name="Text 17"/>
          <p:cNvSpPr/>
          <p:nvPr/>
        </p:nvSpPr>
        <p:spPr>
          <a:xfrm>
            <a:off x="10305288" y="2057400"/>
            <a:ext cx="1298448" cy="274320"/>
          </a:xfrm>
          <a:prstGeom prst="rect">
            <a:avLst/>
          </a:prstGeom>
          <a:noFill/>
          <a:ln/>
        </p:spPr>
        <p:txBody>
          <a:bodyPr wrap="square" lIns="0" tIns="0" rIns="0" bIns="0" rtlCol="0" anchor="t"/>
          <a:lstStyle/>
          <a:p>
            <a:pPr indent="0" marL="0">
              <a:buNone/>
            </a:pPr>
            <a:r>
              <a:rPr lang="en-US" sz="1600" b="1" dirty="0">
                <a:solidFill>
                  <a:srgbClr val="123A32"/>
                </a:solidFill>
                <a:latin typeface="Trebuchet MS" pitchFamily="34" charset="0"/>
                <a:ea typeface="Trebuchet MS" pitchFamily="34" charset="-122"/>
                <a:cs typeface="Trebuchet MS" pitchFamily="34" charset="-120"/>
              </a:rPr>
              <a:t>Feedback</a:t>
            </a:r>
            <a:endParaRPr lang="en-US" sz="1600" dirty="0"/>
          </a:p>
        </p:txBody>
      </p:sp>
      <p:sp>
        <p:nvSpPr>
          <p:cNvPr id="20" name="Shape 18"/>
          <p:cNvSpPr/>
          <p:nvPr/>
        </p:nvSpPr>
        <p:spPr>
          <a:xfrm>
            <a:off x="502920" y="2926080"/>
            <a:ext cx="3520440" cy="2514600"/>
          </a:xfrm>
          <a:prstGeom prst="rect">
            <a:avLst/>
          </a:prstGeom>
          <a:solidFill>
            <a:srgbClr val="FFFFFF"/>
          </a:solidFill>
          <a:ln w="12700">
            <a:solidFill>
              <a:srgbClr val="FFFFFF"/>
            </a:solidFill>
            <a:prstDash val="solid"/>
          </a:ln>
        </p:spPr>
      </p:sp>
      <p:sp>
        <p:nvSpPr>
          <p:cNvPr id="21" name="Shape 19"/>
          <p:cNvSpPr/>
          <p:nvPr/>
        </p:nvSpPr>
        <p:spPr>
          <a:xfrm>
            <a:off x="502920" y="2926080"/>
            <a:ext cx="64008" cy="2514600"/>
          </a:xfrm>
          <a:prstGeom prst="rect">
            <a:avLst/>
          </a:prstGeom>
          <a:solidFill>
            <a:srgbClr val="007F60"/>
          </a:solidFill>
          <a:ln w="12700">
            <a:solidFill>
              <a:srgbClr val="007F60"/>
            </a:solidFill>
            <a:prstDash val="solid"/>
          </a:ln>
        </p:spPr>
      </p:sp>
      <p:sp>
        <p:nvSpPr>
          <p:cNvPr id="22" name="Text 20"/>
          <p:cNvSpPr/>
          <p:nvPr/>
        </p:nvSpPr>
        <p:spPr>
          <a:xfrm>
            <a:off x="704088" y="306324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1. Link &amp; normalize</a:t>
            </a:r>
            <a:endParaRPr lang="en-US" sz="2100" dirty="0"/>
          </a:p>
        </p:txBody>
      </p:sp>
      <p:sp>
        <p:nvSpPr>
          <p:cNvPr id="23" name="Text 21"/>
          <p:cNvSpPr/>
          <p:nvPr/>
        </p:nvSpPr>
        <p:spPr>
          <a:xfrm>
            <a:off x="704088" y="3904488"/>
            <a:ext cx="3118104" cy="141732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The student ID connects source records. The uploaded dataset becomes a unified seed used by all three dashboards.</a:t>
            </a:r>
            <a:endParaRPr lang="en-US" sz="1800" dirty="0"/>
          </a:p>
        </p:txBody>
      </p:sp>
      <p:sp>
        <p:nvSpPr>
          <p:cNvPr id="24" name="Shape 22"/>
          <p:cNvSpPr/>
          <p:nvPr/>
        </p:nvSpPr>
        <p:spPr>
          <a:xfrm>
            <a:off x="4343400" y="2926080"/>
            <a:ext cx="3520440" cy="2514600"/>
          </a:xfrm>
          <a:prstGeom prst="rect">
            <a:avLst/>
          </a:prstGeom>
          <a:solidFill>
            <a:srgbClr val="FFFFFF"/>
          </a:solidFill>
          <a:ln w="12700">
            <a:solidFill>
              <a:srgbClr val="FFFFFF"/>
            </a:solidFill>
            <a:prstDash val="solid"/>
          </a:ln>
        </p:spPr>
      </p:sp>
      <p:sp>
        <p:nvSpPr>
          <p:cNvPr id="25" name="Shape 23"/>
          <p:cNvSpPr/>
          <p:nvPr/>
        </p:nvSpPr>
        <p:spPr>
          <a:xfrm>
            <a:off x="4343400" y="2926080"/>
            <a:ext cx="64008" cy="2514600"/>
          </a:xfrm>
          <a:prstGeom prst="rect">
            <a:avLst/>
          </a:prstGeom>
          <a:solidFill>
            <a:srgbClr val="007F60"/>
          </a:solidFill>
          <a:ln w="12700">
            <a:solidFill>
              <a:srgbClr val="007F60"/>
            </a:solidFill>
            <a:prstDash val="solid"/>
          </a:ln>
        </p:spPr>
      </p:sp>
      <p:sp>
        <p:nvSpPr>
          <p:cNvPr id="26" name="Text 24"/>
          <p:cNvSpPr/>
          <p:nvPr/>
        </p:nvSpPr>
        <p:spPr>
          <a:xfrm>
            <a:off x="4544568" y="306324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2. Derive &amp; explain</a:t>
            </a:r>
            <a:endParaRPr lang="en-US" sz="2100" dirty="0"/>
          </a:p>
        </p:txBody>
      </p:sp>
      <p:sp>
        <p:nvSpPr>
          <p:cNvPr id="27" name="Text 25"/>
          <p:cNvSpPr/>
          <p:nvPr/>
        </p:nvSpPr>
        <p:spPr>
          <a:xfrm>
            <a:off x="4544568" y="3904488"/>
            <a:ext cx="3118104" cy="141732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Compute component values, available-weight score, flag points, risk drivers and support segments.</a:t>
            </a:r>
            <a:endParaRPr lang="en-US" sz="1800" dirty="0"/>
          </a:p>
        </p:txBody>
      </p:sp>
      <p:sp>
        <p:nvSpPr>
          <p:cNvPr id="28" name="Shape 26"/>
          <p:cNvSpPr/>
          <p:nvPr/>
        </p:nvSpPr>
        <p:spPr>
          <a:xfrm>
            <a:off x="8183880" y="2926080"/>
            <a:ext cx="3520440" cy="2514600"/>
          </a:xfrm>
          <a:prstGeom prst="rect">
            <a:avLst/>
          </a:prstGeom>
          <a:solidFill>
            <a:srgbClr val="FFFFFF"/>
          </a:solidFill>
          <a:ln w="12700">
            <a:solidFill>
              <a:srgbClr val="FFFFFF"/>
            </a:solidFill>
            <a:prstDash val="solid"/>
          </a:ln>
        </p:spPr>
      </p:sp>
      <p:sp>
        <p:nvSpPr>
          <p:cNvPr id="29" name="Shape 27"/>
          <p:cNvSpPr/>
          <p:nvPr/>
        </p:nvSpPr>
        <p:spPr>
          <a:xfrm>
            <a:off x="8183880" y="2926080"/>
            <a:ext cx="64008" cy="2514600"/>
          </a:xfrm>
          <a:prstGeom prst="rect">
            <a:avLst/>
          </a:prstGeom>
          <a:solidFill>
            <a:srgbClr val="007F60"/>
          </a:solidFill>
          <a:ln w="12700">
            <a:solidFill>
              <a:srgbClr val="007F60"/>
            </a:solidFill>
            <a:prstDash val="solid"/>
          </a:ln>
        </p:spPr>
      </p:sp>
      <p:sp>
        <p:nvSpPr>
          <p:cNvPr id="30" name="Text 28"/>
          <p:cNvSpPr/>
          <p:nvPr/>
        </p:nvSpPr>
        <p:spPr>
          <a:xfrm>
            <a:off x="8385048" y="306324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3. Act &amp; follow up</a:t>
            </a:r>
            <a:endParaRPr lang="en-US" sz="2100" dirty="0"/>
          </a:p>
        </p:txBody>
      </p:sp>
      <p:sp>
        <p:nvSpPr>
          <p:cNvPr id="31" name="Text 29"/>
          <p:cNvSpPr/>
          <p:nvPr/>
        </p:nvSpPr>
        <p:spPr>
          <a:xfrm>
            <a:off x="8385048" y="3904488"/>
            <a:ext cx="3118104" cy="141732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Students see next steps. Mentors triage and create interventions. Administrators monitor aggregate risk.</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DATA INTEGRATION</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Data quality is part of the result—not an afterthought</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07</a:t>
            </a:r>
            <a:endParaRPr lang="en-US" sz="1100" dirty="0"/>
          </a:p>
        </p:txBody>
      </p:sp>
      <p:sp>
        <p:nvSpPr>
          <p:cNvPr id="6" name="Shape 4"/>
          <p:cNvSpPr/>
          <p:nvPr/>
        </p:nvSpPr>
        <p:spPr>
          <a:xfrm>
            <a:off x="502920" y="1874520"/>
            <a:ext cx="3520440" cy="1554480"/>
          </a:xfrm>
          <a:prstGeom prst="rect">
            <a:avLst/>
          </a:prstGeom>
          <a:solidFill>
            <a:srgbClr val="FFFFFF"/>
          </a:solidFill>
          <a:ln w="12700">
            <a:solidFill>
              <a:srgbClr val="FFFFFF"/>
            </a:solidFill>
            <a:prstDash val="solid"/>
          </a:ln>
        </p:spPr>
      </p:sp>
      <p:sp>
        <p:nvSpPr>
          <p:cNvPr id="7" name="Text 5"/>
          <p:cNvSpPr/>
          <p:nvPr/>
        </p:nvSpPr>
        <p:spPr>
          <a:xfrm>
            <a:off x="731520" y="2011680"/>
            <a:ext cx="3017520" cy="731520"/>
          </a:xfrm>
          <a:prstGeom prst="rect">
            <a:avLst/>
          </a:prstGeom>
          <a:noFill/>
          <a:ln/>
        </p:spPr>
        <p:txBody>
          <a:bodyPr wrap="square" lIns="0" tIns="0" rIns="0" bIns="0" rtlCol="0" anchor="t"/>
          <a:lstStyle/>
          <a:p>
            <a:pPr indent="0" marL="0">
              <a:buNone/>
            </a:pPr>
            <a:r>
              <a:rPr lang="en-US" sz="5200" b="1" dirty="0">
                <a:solidFill>
                  <a:srgbClr val="007F60"/>
                </a:solidFill>
                <a:latin typeface="Trebuchet MS" pitchFamily="34" charset="0"/>
                <a:ea typeface="Trebuchet MS" pitchFamily="34" charset="-122"/>
                <a:cs typeface="Trebuchet MS" pitchFamily="34" charset="-120"/>
              </a:rPr>
              <a:t>300</a:t>
            </a:r>
            <a:endParaRPr lang="en-US" sz="5200" dirty="0"/>
          </a:p>
        </p:txBody>
      </p:sp>
      <p:sp>
        <p:nvSpPr>
          <p:cNvPr id="8" name="Text 6"/>
          <p:cNvSpPr/>
          <p:nvPr/>
        </p:nvSpPr>
        <p:spPr>
          <a:xfrm>
            <a:off x="731520" y="2852928"/>
            <a:ext cx="3017520" cy="32004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Student records</a:t>
            </a:r>
            <a:endParaRPr lang="en-US" sz="1800" dirty="0"/>
          </a:p>
        </p:txBody>
      </p:sp>
      <p:sp>
        <p:nvSpPr>
          <p:cNvPr id="9" name="Shape 7"/>
          <p:cNvSpPr/>
          <p:nvPr/>
        </p:nvSpPr>
        <p:spPr>
          <a:xfrm>
            <a:off x="4325112" y="1874520"/>
            <a:ext cx="3520440" cy="1554480"/>
          </a:xfrm>
          <a:prstGeom prst="rect">
            <a:avLst/>
          </a:prstGeom>
          <a:solidFill>
            <a:srgbClr val="FFFFFF"/>
          </a:solidFill>
          <a:ln w="12700">
            <a:solidFill>
              <a:srgbClr val="FFFFFF"/>
            </a:solidFill>
            <a:prstDash val="solid"/>
          </a:ln>
        </p:spPr>
      </p:sp>
      <p:sp>
        <p:nvSpPr>
          <p:cNvPr id="10" name="Text 8"/>
          <p:cNvSpPr/>
          <p:nvPr/>
        </p:nvSpPr>
        <p:spPr>
          <a:xfrm>
            <a:off x="4553712" y="2011680"/>
            <a:ext cx="3017520" cy="731520"/>
          </a:xfrm>
          <a:prstGeom prst="rect">
            <a:avLst/>
          </a:prstGeom>
          <a:noFill/>
          <a:ln/>
        </p:spPr>
        <p:txBody>
          <a:bodyPr wrap="square" lIns="0" tIns="0" rIns="0" bIns="0" rtlCol="0" anchor="t"/>
          <a:lstStyle/>
          <a:p>
            <a:pPr indent="0" marL="0">
              <a:buNone/>
            </a:pPr>
            <a:r>
              <a:rPr lang="en-US" sz="5200" b="1" dirty="0">
                <a:solidFill>
                  <a:srgbClr val="007F60"/>
                </a:solidFill>
                <a:latin typeface="Trebuchet MS" pitchFamily="34" charset="0"/>
                <a:ea typeface="Trebuchet MS" pitchFamily="34" charset="-122"/>
                <a:cs typeface="Trebuchet MS" pitchFamily="34" charset="-120"/>
              </a:rPr>
              <a:t>96%</a:t>
            </a:r>
            <a:endParaRPr lang="en-US" sz="5200" dirty="0"/>
          </a:p>
        </p:txBody>
      </p:sp>
      <p:sp>
        <p:nvSpPr>
          <p:cNvPr id="11" name="Text 9"/>
          <p:cNvSpPr/>
          <p:nvPr/>
        </p:nvSpPr>
        <p:spPr>
          <a:xfrm>
            <a:off x="4553712" y="2852928"/>
            <a:ext cx="3017520" cy="32004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Six-component coverage</a:t>
            </a:r>
            <a:endParaRPr lang="en-US" sz="1800" dirty="0"/>
          </a:p>
        </p:txBody>
      </p:sp>
      <p:sp>
        <p:nvSpPr>
          <p:cNvPr id="12" name="Shape 10"/>
          <p:cNvSpPr/>
          <p:nvPr/>
        </p:nvSpPr>
        <p:spPr>
          <a:xfrm>
            <a:off x="8147304" y="1874520"/>
            <a:ext cx="3520440" cy="1554480"/>
          </a:xfrm>
          <a:prstGeom prst="rect">
            <a:avLst/>
          </a:prstGeom>
          <a:solidFill>
            <a:srgbClr val="FFFFFF"/>
          </a:solidFill>
          <a:ln w="12700">
            <a:solidFill>
              <a:srgbClr val="FFFFFF"/>
            </a:solidFill>
            <a:prstDash val="solid"/>
          </a:ln>
        </p:spPr>
      </p:sp>
      <p:sp>
        <p:nvSpPr>
          <p:cNvPr id="13" name="Text 11"/>
          <p:cNvSpPr/>
          <p:nvPr/>
        </p:nvSpPr>
        <p:spPr>
          <a:xfrm>
            <a:off x="8375904" y="2011680"/>
            <a:ext cx="3017520" cy="731520"/>
          </a:xfrm>
          <a:prstGeom prst="rect">
            <a:avLst/>
          </a:prstGeom>
          <a:noFill/>
          <a:ln/>
        </p:spPr>
        <p:txBody>
          <a:bodyPr wrap="square" lIns="0" tIns="0" rIns="0" bIns="0" rtlCol="0" anchor="t"/>
          <a:lstStyle/>
          <a:p>
            <a:pPr indent="0" marL="0">
              <a:buNone/>
            </a:pPr>
            <a:r>
              <a:rPr lang="en-US" sz="5200" b="1" dirty="0">
                <a:solidFill>
                  <a:srgbClr val="007F60"/>
                </a:solidFill>
                <a:latin typeface="Trebuchet MS" pitchFamily="34" charset="0"/>
                <a:ea typeface="Trebuchet MS" pitchFamily="34" charset="-122"/>
                <a:cs typeface="Trebuchet MS" pitchFamily="34" charset="-120"/>
              </a:rPr>
              <a:t>72</a:t>
            </a:r>
            <a:endParaRPr lang="en-US" sz="5200" dirty="0"/>
          </a:p>
        </p:txBody>
      </p:sp>
      <p:sp>
        <p:nvSpPr>
          <p:cNvPr id="14" name="Text 12"/>
          <p:cNvSpPr/>
          <p:nvPr/>
        </p:nvSpPr>
        <p:spPr>
          <a:xfrm>
            <a:off x="8375904" y="2852928"/>
            <a:ext cx="3017520" cy="32004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Missing component values</a:t>
            </a:r>
            <a:endParaRPr lang="en-US" sz="1800" dirty="0"/>
          </a:p>
        </p:txBody>
      </p:sp>
      <p:sp>
        <p:nvSpPr>
          <p:cNvPr id="15" name="Shape 13"/>
          <p:cNvSpPr/>
          <p:nvPr/>
        </p:nvSpPr>
        <p:spPr>
          <a:xfrm>
            <a:off x="502920" y="3794760"/>
            <a:ext cx="5394960" cy="2011680"/>
          </a:xfrm>
          <a:prstGeom prst="rect">
            <a:avLst/>
          </a:prstGeom>
          <a:solidFill>
            <a:srgbClr val="FFFFFF"/>
          </a:solidFill>
          <a:ln w="12700">
            <a:solidFill>
              <a:srgbClr val="FFFFFF"/>
            </a:solidFill>
            <a:prstDash val="solid"/>
          </a:ln>
        </p:spPr>
      </p:sp>
      <p:sp>
        <p:nvSpPr>
          <p:cNvPr id="16" name="Shape 14"/>
          <p:cNvSpPr/>
          <p:nvPr/>
        </p:nvSpPr>
        <p:spPr>
          <a:xfrm>
            <a:off x="502920" y="3794760"/>
            <a:ext cx="64008" cy="2011680"/>
          </a:xfrm>
          <a:prstGeom prst="rect">
            <a:avLst/>
          </a:prstGeom>
          <a:solidFill>
            <a:srgbClr val="007F60"/>
          </a:solidFill>
          <a:ln w="12700">
            <a:solidFill>
              <a:srgbClr val="007F60"/>
            </a:solidFill>
            <a:prstDash val="solid"/>
          </a:ln>
        </p:spPr>
      </p:sp>
      <p:sp>
        <p:nvSpPr>
          <p:cNvPr id="17" name="Text 15"/>
          <p:cNvSpPr/>
          <p:nvPr/>
        </p:nvSpPr>
        <p:spPr>
          <a:xfrm>
            <a:off x="704088" y="3931920"/>
            <a:ext cx="501091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Separate absent from zero</a:t>
            </a:r>
            <a:endParaRPr lang="en-US" sz="2100" dirty="0"/>
          </a:p>
        </p:txBody>
      </p:sp>
      <p:sp>
        <p:nvSpPr>
          <p:cNvPr id="18" name="Text 16"/>
          <p:cNvSpPr/>
          <p:nvPr/>
        </p:nvSpPr>
        <p:spPr>
          <a:xfrm>
            <a:off x="704088" y="4773168"/>
            <a:ext cx="4992624" cy="9144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A missing source is excluded from its score denominator. A genuine zero remains a real observed value.</a:t>
            </a:r>
            <a:endParaRPr lang="en-US" sz="1800" dirty="0"/>
          </a:p>
        </p:txBody>
      </p:sp>
      <p:sp>
        <p:nvSpPr>
          <p:cNvPr id="19" name="Shape 17"/>
          <p:cNvSpPr/>
          <p:nvPr/>
        </p:nvSpPr>
        <p:spPr>
          <a:xfrm>
            <a:off x="6172200" y="3794760"/>
            <a:ext cx="5532120" cy="2011680"/>
          </a:xfrm>
          <a:prstGeom prst="rect">
            <a:avLst/>
          </a:prstGeom>
          <a:solidFill>
            <a:srgbClr val="FFFFFF"/>
          </a:solidFill>
          <a:ln w="12700">
            <a:solidFill>
              <a:srgbClr val="FFFFFF"/>
            </a:solidFill>
            <a:prstDash val="solid"/>
          </a:ln>
        </p:spPr>
      </p:sp>
      <p:sp>
        <p:nvSpPr>
          <p:cNvPr id="20" name="Shape 18"/>
          <p:cNvSpPr/>
          <p:nvPr/>
        </p:nvSpPr>
        <p:spPr>
          <a:xfrm>
            <a:off x="6172200" y="3794760"/>
            <a:ext cx="64008" cy="2011680"/>
          </a:xfrm>
          <a:prstGeom prst="rect">
            <a:avLst/>
          </a:prstGeom>
          <a:solidFill>
            <a:srgbClr val="007F60"/>
          </a:solidFill>
          <a:ln w="12700">
            <a:solidFill>
              <a:srgbClr val="007F60"/>
            </a:solidFill>
            <a:prstDash val="solid"/>
          </a:ln>
        </p:spPr>
      </p:sp>
      <p:sp>
        <p:nvSpPr>
          <p:cNvPr id="21" name="Text 19"/>
          <p:cNvSpPr/>
          <p:nvPr/>
        </p:nvSpPr>
        <p:spPr>
          <a:xfrm>
            <a:off x="6373368" y="3931920"/>
            <a:ext cx="514807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Do not over-read coverage</a:t>
            </a:r>
            <a:endParaRPr lang="en-US" sz="2100" dirty="0"/>
          </a:p>
        </p:txBody>
      </p:sp>
      <p:sp>
        <p:nvSpPr>
          <p:cNvPr id="22" name="Text 20"/>
          <p:cNvSpPr/>
          <p:nvPr/>
        </p:nvSpPr>
        <p:spPr>
          <a:xfrm>
            <a:off x="6373368" y="4773168"/>
            <a:ext cx="5129784" cy="9144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Coverage measures available component values, not accuracy, integration freshness or confidence in an outcome.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 professional public entry point</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08</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assistant.png">    </p:cNvPr>
          <p:cNvPicPr>
            <a:picLocks noChangeAspect="1"/>
          </p:cNvPicPr>
          <p:nvPr/>
        </p:nvPicPr>
        <p:blipFill>
          <a:blip r:embed="rId1"/>
          <a:stretch>
            <a:fillRect/>
          </a:stretch>
        </p:blipFill>
        <p:spPr>
          <a:xfrm>
            <a:off x="2823397" y="1874520"/>
            <a:ext cx="2765685"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Explain the purpose</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The landing page introduces the three questions, connected sources and user benefits.</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Guided navigation</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Ask IQ offers suggested questions and links to the next destination.</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Clear boundaries</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The assistant is guidance, not a private-record retrieval or decision-making tool.</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Actual preview: public website and campus-guide panel.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Access: separate fictional demos from private accounts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09</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auth-full.png">    </p:cNvPr>
          <p:cNvPicPr>
            <a:picLocks noChangeAspect="1"/>
          </p:cNvPicPr>
          <p:nvPr/>
        </p:nvPicPr>
        <p:blipFill>
          <a:blip r:embed="rId1"/>
          <a:stretch>
            <a:fillRect/>
          </a:stretch>
        </p:blipFill>
        <p:spPr>
          <a:xfrm>
            <a:off x="1812175" y="1874520"/>
            <a:ext cx="4788131"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Password-free demos</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Student, Teacher and Admin entry points demonstrate different perspectives.</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Role-oriented workspace</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Student demo shows its own profile only; other role dashboards are restricted.</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Private account layer</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Authenticated routes are separate; production access needs verified role and record assignment.</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Demo identity is not authorization; fictional records are not private institutional data.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Student overview: evidence before generic advice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10</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overview.png">    </p:cNvPr>
          <p:cNvPicPr>
            <a:picLocks noChangeAspect="1"/>
          </p:cNvPicPr>
          <p:nvPr/>
        </p:nvPicPr>
        <p:blipFill>
          <a:blip r:embed="rId1"/>
          <a:stretch>
            <a:fillRect/>
          </a:stretch>
        </p:blipFill>
        <p:spPr>
          <a:xfrm>
            <a:off x="2124444" y="1874520"/>
            <a:ext cx="4163592"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One unified header</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Success Score, CGPA, attendance, LMS, risk badges and segment.</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Visible contributors</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Each available component shows its weight and contribution.</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Prioritized next steps</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Attendance, assignments and placement notifications identify what needs attention.</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Eight tabs: Overview · Academics · Attendance · LMS · Skills · Placement · Engagement · Feedback.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Academics: see strengths, gaps and direction</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11</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academics.png">    </p:cNvPr>
          <p:cNvPicPr>
            <a:picLocks noChangeAspect="1"/>
          </p:cNvPicPr>
          <p:nvPr/>
        </p:nvPicPr>
        <p:blipFill>
          <a:blip r:embed="rId1"/>
          <a:stretch>
            <a:fillRect/>
          </a:stretch>
        </p:blipFill>
        <p:spPr>
          <a:xfrm>
            <a:off x="763793" y="1874520"/>
            <a:ext cx="6884894"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Academic snapshot</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CGPA, active backlogs, strongest subject and subject marks.</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Trend view</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Semester-grade chart where recorded history is available.</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Interpret responsibly</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 sparse chart is not proof of a long-term improvement or decline.</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Subject outcomes and history are derived from the current student record.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Attendance: a calculator, not just a percentage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12</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attendance.png">    </p:cNvPr>
          <p:cNvPicPr>
            <a:picLocks noChangeAspect="1"/>
          </p:cNvPicPr>
          <p:nvPr/>
        </p:nvPicPr>
        <p:blipFill>
          <a:blip r:embed="rId1"/>
          <a:stretch>
            <a:fillRect/>
          </a:stretch>
        </p:blipFill>
        <p:spPr>
          <a:xfrm>
            <a:off x="1477253" y="1874520"/>
            <a:ext cx="5457973"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Source of truth</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Classes attended ÷ classes held, calculated per subject and overall.</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Marks &amp; targets</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Proposed 90/85/80/75% bands map to 5/4/3/2 marks.</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Recovery planning</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Additional attended classes, safe-to-miss estimate and warning messages.</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Remaining classes are a fixed demo assumption of 14 per subject—not a live timetable.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CALCULATION PATTERN</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Attendance mathematics: explicit assumptions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13</a:t>
            </a:r>
            <a:endParaRPr lang="en-US" sz="1100" dirty="0"/>
          </a:p>
        </p:txBody>
      </p:sp>
      <p:sp>
        <p:nvSpPr>
          <p:cNvPr id="6" name="Shape 4"/>
          <p:cNvSpPr/>
          <p:nvPr/>
        </p:nvSpPr>
        <p:spPr>
          <a:xfrm>
            <a:off x="502920" y="1874520"/>
            <a:ext cx="3520440" cy="3063240"/>
          </a:xfrm>
          <a:prstGeom prst="rect">
            <a:avLst/>
          </a:prstGeom>
          <a:solidFill>
            <a:srgbClr val="FFFFFF"/>
          </a:solidFill>
          <a:ln w="12700">
            <a:solidFill>
              <a:srgbClr val="FFFFFF"/>
            </a:solidFill>
            <a:prstDash val="solid"/>
          </a:ln>
        </p:spPr>
      </p:sp>
      <p:sp>
        <p:nvSpPr>
          <p:cNvPr id="7" name="Shape 5"/>
          <p:cNvSpPr/>
          <p:nvPr/>
        </p:nvSpPr>
        <p:spPr>
          <a:xfrm>
            <a:off x="502920" y="1874520"/>
            <a:ext cx="64008" cy="3063240"/>
          </a:xfrm>
          <a:prstGeom prst="rect">
            <a:avLst/>
          </a:prstGeom>
          <a:solidFill>
            <a:srgbClr val="007F60"/>
          </a:solidFill>
          <a:ln w="12700">
            <a:solidFill>
              <a:srgbClr val="007F60"/>
            </a:solidFill>
            <a:prstDash val="solid"/>
          </a:ln>
        </p:spPr>
      </p:sp>
      <p:sp>
        <p:nvSpPr>
          <p:cNvPr id="8" name="Text 6"/>
          <p:cNvSpPr/>
          <p:nvPr/>
        </p:nvSpPr>
        <p:spPr>
          <a:xfrm>
            <a:off x="70408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Attendance percentage</a:t>
            </a:r>
            <a:endParaRPr lang="en-US" sz="2100" dirty="0"/>
          </a:p>
        </p:txBody>
      </p:sp>
      <p:sp>
        <p:nvSpPr>
          <p:cNvPr id="9" name="Text 7"/>
          <p:cNvSpPr/>
          <p:nvPr/>
        </p:nvSpPr>
        <p:spPr>
          <a:xfrm>
            <a:off x="704088" y="2852928"/>
            <a:ext cx="3118104" cy="196596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A / H × 100</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A = attended; H = held</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No held classes → insufficient data.</a:t>
            </a:r>
            <a:endParaRPr lang="en-US" sz="1800" dirty="0"/>
          </a:p>
        </p:txBody>
      </p:sp>
      <p:sp>
        <p:nvSpPr>
          <p:cNvPr id="10" name="Shape 8"/>
          <p:cNvSpPr/>
          <p:nvPr/>
        </p:nvSpPr>
        <p:spPr>
          <a:xfrm>
            <a:off x="4343400" y="1874520"/>
            <a:ext cx="3520440" cy="3063240"/>
          </a:xfrm>
          <a:prstGeom prst="rect">
            <a:avLst/>
          </a:prstGeom>
          <a:solidFill>
            <a:srgbClr val="FFFFFF"/>
          </a:solidFill>
          <a:ln w="12700">
            <a:solidFill>
              <a:srgbClr val="FFFFFF"/>
            </a:solidFill>
            <a:prstDash val="solid"/>
          </a:ln>
        </p:spPr>
      </p:sp>
      <p:sp>
        <p:nvSpPr>
          <p:cNvPr id="11" name="Shape 9"/>
          <p:cNvSpPr/>
          <p:nvPr/>
        </p:nvSpPr>
        <p:spPr>
          <a:xfrm>
            <a:off x="4343400" y="1874520"/>
            <a:ext cx="64008" cy="3063240"/>
          </a:xfrm>
          <a:prstGeom prst="rect">
            <a:avLst/>
          </a:prstGeom>
          <a:solidFill>
            <a:srgbClr val="007F60"/>
          </a:solidFill>
          <a:ln w="12700">
            <a:solidFill>
              <a:srgbClr val="007F60"/>
            </a:solidFill>
            <a:prstDash val="solid"/>
          </a:ln>
        </p:spPr>
      </p:sp>
      <p:sp>
        <p:nvSpPr>
          <p:cNvPr id="12" name="Text 10"/>
          <p:cNvSpPr/>
          <p:nvPr/>
        </p:nvSpPr>
        <p:spPr>
          <a:xfrm>
            <a:off x="454456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Reach a target</a:t>
            </a:r>
            <a:endParaRPr lang="en-US" sz="2100" dirty="0"/>
          </a:p>
        </p:txBody>
      </p:sp>
      <p:sp>
        <p:nvSpPr>
          <p:cNvPr id="13" name="Text 11"/>
          <p:cNvSpPr/>
          <p:nvPr/>
        </p:nvSpPr>
        <p:spPr>
          <a:xfrm>
            <a:off x="4544568" y="2852928"/>
            <a:ext cx="3118104" cy="196596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max(0, ceil((T × H − A) / (1 − T)))</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Assumes every future class is attended; 0 &lt; T &lt; 1.</a:t>
            </a:r>
            <a:endParaRPr lang="en-US" sz="1800" dirty="0"/>
          </a:p>
        </p:txBody>
      </p:sp>
      <p:sp>
        <p:nvSpPr>
          <p:cNvPr id="14" name="Shape 12"/>
          <p:cNvSpPr/>
          <p:nvPr/>
        </p:nvSpPr>
        <p:spPr>
          <a:xfrm>
            <a:off x="8183880" y="1874520"/>
            <a:ext cx="3520440" cy="3063240"/>
          </a:xfrm>
          <a:prstGeom prst="rect">
            <a:avLst/>
          </a:prstGeom>
          <a:solidFill>
            <a:srgbClr val="FFFFFF"/>
          </a:solidFill>
          <a:ln w="12700">
            <a:solidFill>
              <a:srgbClr val="FFFFFF"/>
            </a:solidFill>
            <a:prstDash val="solid"/>
          </a:ln>
        </p:spPr>
      </p:sp>
      <p:sp>
        <p:nvSpPr>
          <p:cNvPr id="15" name="Shape 13"/>
          <p:cNvSpPr/>
          <p:nvPr/>
        </p:nvSpPr>
        <p:spPr>
          <a:xfrm>
            <a:off x="8183880" y="1874520"/>
            <a:ext cx="64008" cy="3063240"/>
          </a:xfrm>
          <a:prstGeom prst="rect">
            <a:avLst/>
          </a:prstGeom>
          <a:solidFill>
            <a:srgbClr val="007F60"/>
          </a:solidFill>
          <a:ln w="12700">
            <a:solidFill>
              <a:srgbClr val="007F60"/>
            </a:solidFill>
            <a:prstDash val="solid"/>
          </a:ln>
        </p:spPr>
      </p:sp>
      <p:sp>
        <p:nvSpPr>
          <p:cNvPr id="16" name="Text 14"/>
          <p:cNvSpPr/>
          <p:nvPr/>
        </p:nvSpPr>
        <p:spPr>
          <a:xfrm>
            <a:off x="838504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Safe-to-miss estimate</a:t>
            </a:r>
            <a:endParaRPr lang="en-US" sz="2100" dirty="0"/>
          </a:p>
        </p:txBody>
      </p:sp>
      <p:sp>
        <p:nvSpPr>
          <p:cNvPr id="17" name="Text 15"/>
          <p:cNvSpPr/>
          <p:nvPr/>
        </p:nvSpPr>
        <p:spPr>
          <a:xfrm>
            <a:off x="8385048" y="2852928"/>
            <a:ext cx="3118104" cy="196596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max(0, floor(A / T − H))</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Assumes no future attendance. Timetable changes can alter the estimate.</a:t>
            </a:r>
            <a:endParaRPr lang="en-US" sz="1800" dirty="0"/>
          </a:p>
        </p:txBody>
      </p:sp>
      <p:sp>
        <p:nvSpPr>
          <p:cNvPr id="18" name="Text 16"/>
          <p:cNvSpPr/>
          <p:nvPr/>
        </p:nvSpPr>
        <p:spPr>
          <a:xfrm>
            <a:off x="594360" y="5394960"/>
            <a:ext cx="10972800" cy="914400"/>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Example: 32/40 = 80%; to reach 85%, attend 14 consecutive classes → 46/54 = 85.19%.</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LMS: connect learning progress to pending work</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14</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lms.png">    </p:cNvPr>
          <p:cNvPicPr>
            <a:picLocks noChangeAspect="1"/>
          </p:cNvPicPr>
          <p:nvPr/>
        </p:nvPicPr>
        <p:blipFill>
          <a:blip r:embed="rId1"/>
          <a:stretch>
            <a:fillRect/>
          </a:stretch>
        </p:blipFill>
        <p:spPr>
          <a:xfrm>
            <a:off x="1328129" y="1874520"/>
            <a:ext cx="5756223"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Completion &amp; tasks</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Show lesson and assignment completion plus a dated task board.</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Activity context</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Login-frequency visualization and unit/resource cards aid the demo narrative.</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Dataset limitation</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Uploaded records preserve aggregate LMS completion; unit details may be illustrative.</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Notes, video metadata, task dates and login activity in the demo are not verified live LMS records.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Skills: practice areas and progress cues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15</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skills.png">    </p:cNvPr>
          <p:cNvPicPr>
            <a:picLocks noChangeAspect="1"/>
          </p:cNvPicPr>
          <p:nvPr/>
        </p:nvPicPr>
        <p:blipFill>
          <a:blip r:embed="rId1"/>
          <a:stretch>
            <a:fillRect/>
          </a:stretch>
        </p:blipFill>
        <p:spPr>
          <a:xfrm>
            <a:off x="2304816" y="1874520"/>
            <a:ext cx="3802848"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Technical &amp; soft skills</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Coding, aptitude, verbal/communication and other visible skill indicators.</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Practice discovery</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Vocabulary, reasoning and coding/aptitude practice-set cards.</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Preparation gaps</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Highlight where a student should practice before the selected placement goal.</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Weekly test curves and practice cards are illustrative; they are not scored live attempts.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Placement: readiness is different from eligibility</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16</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placement.png">    </p:cNvPr>
          <p:cNvPicPr>
            <a:picLocks noChangeAspect="1"/>
          </p:cNvPicPr>
          <p:nvPr/>
        </p:nvPicPr>
        <p:blipFill>
          <a:blip r:embed="rId1"/>
          <a:stretch>
            <a:fillRect/>
          </a:stretch>
        </p:blipFill>
        <p:spPr>
          <a:xfrm>
            <a:off x="2383768" y="1874520"/>
            <a:ext cx="3644944"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Readiness score</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Resume, assessments and mock interviews form a preparation indicator.</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Criteria checklist</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CGPA, branch, graduation year, backlogs and required assessments produce Pass/Fail/Unknown.</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Explain the gap</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Upcoming fictional drives and resume-role feedback guide preparation.</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Unknown criteria cannot produce an eligible result; demo drives are fictional.</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Engagement: opportunities with a purpose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17</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engagement.png">    </p:cNvPr>
          <p:cNvPicPr>
            <a:picLocks noChangeAspect="1"/>
          </p:cNvPicPr>
          <p:nvPr/>
        </p:nvPicPr>
        <p:blipFill>
          <a:blip r:embed="rId1"/>
          <a:stretch>
            <a:fillRect/>
          </a:stretch>
        </p:blipFill>
        <p:spPr>
          <a:xfrm>
            <a:off x="2408648" y="1874520"/>
            <a:ext cx="3595184"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Participation overview</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Clubs, events, hackathons and certifications contribute to the record.</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Relevant opportunities</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Cards explain potential benefits and deadlines for campus activities.</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Responsible interpretation</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Low participation can reflect unequal opportunity; it is not a measure of student worth.</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Event and club recommendations are demo content; real evidence verification needs a connected review workflow.</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Feedback &amp; support: improve without exposing complaints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18</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feedback.png">    </p:cNvPr>
          <p:cNvPicPr>
            <a:picLocks noChangeAspect="1"/>
          </p:cNvPicPr>
          <p:nvPr/>
        </p:nvPicPr>
        <p:blipFill>
          <a:blip r:embed="rId1"/>
          <a:stretch>
            <a:fillRect/>
          </a:stretch>
        </p:blipFill>
        <p:spPr>
          <a:xfrm>
            <a:off x="2408648" y="1874520"/>
            <a:ext cx="3595184"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Feedback context</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Faculty feedback rounds and student feedback prompts.</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Support channel</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Students can enter a confidential complaint in the demo workflow.</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Restricted review</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The admin review surface hides complaint content until an authorized review action.</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Browser-only demo complaints must never contain sensitive real information.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SCORING MODEL</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The Success Score: transparent and available-data aware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19</a:t>
            </a:r>
            <a:endParaRPr lang="en-US" sz="1100" dirty="0"/>
          </a:p>
        </p:txBody>
      </p:sp>
      <p:sp>
        <p:nvSpPr>
          <p:cNvPr id="6" name="Text 4"/>
          <p:cNvSpPr/>
          <p:nvPr/>
        </p:nvSpPr>
        <p:spPr>
          <a:xfrm>
            <a:off x="594360" y="1874520"/>
            <a:ext cx="2103120" cy="320040"/>
          </a:xfrm>
          <a:prstGeom prst="rect">
            <a:avLst/>
          </a:prstGeom>
          <a:noFill/>
          <a:ln/>
        </p:spPr>
        <p:txBody>
          <a:bodyPr wrap="square" lIns="0" tIns="0" rIns="0" bIns="0" rtlCol="0" anchor="t"/>
          <a:lstStyle/>
          <a:p>
            <a:pPr indent="0" marL="0">
              <a:buNone/>
            </a:pPr>
            <a:r>
              <a:rPr lang="en-US" sz="2000" dirty="0">
                <a:solidFill>
                  <a:srgbClr val="123A32"/>
                </a:solidFill>
                <a:latin typeface="Calibri" pitchFamily="34" charset="0"/>
                <a:ea typeface="Calibri" pitchFamily="34" charset="-122"/>
                <a:cs typeface="Calibri" pitchFamily="34" charset="-120"/>
              </a:rPr>
              <a:t>Academics</a:t>
            </a:r>
            <a:endParaRPr lang="en-US" sz="2000" dirty="0"/>
          </a:p>
        </p:txBody>
      </p:sp>
      <p:sp>
        <p:nvSpPr>
          <p:cNvPr id="7" name="Shape 5"/>
          <p:cNvSpPr/>
          <p:nvPr/>
        </p:nvSpPr>
        <p:spPr>
          <a:xfrm>
            <a:off x="2880360" y="1874520"/>
            <a:ext cx="4114800" cy="320040"/>
          </a:xfrm>
          <a:prstGeom prst="rect">
            <a:avLst/>
          </a:prstGeom>
          <a:solidFill>
            <a:srgbClr val="007F60"/>
          </a:solidFill>
          <a:ln w="12700">
            <a:solidFill>
              <a:srgbClr val="007F60"/>
            </a:solidFill>
            <a:prstDash val="solid"/>
          </a:ln>
        </p:spPr>
      </p:sp>
      <p:sp>
        <p:nvSpPr>
          <p:cNvPr id="8" name="Text 6"/>
          <p:cNvSpPr/>
          <p:nvPr/>
        </p:nvSpPr>
        <p:spPr>
          <a:xfrm>
            <a:off x="7178040" y="1874520"/>
            <a:ext cx="731520" cy="365760"/>
          </a:xfrm>
          <a:prstGeom prst="rect">
            <a:avLst/>
          </a:prstGeom>
          <a:noFill/>
          <a:ln/>
        </p:spPr>
        <p:txBody>
          <a:bodyPr wrap="square" lIns="0" tIns="0" rIns="0" bIns="0" rtlCol="0" anchor="t"/>
          <a:lstStyle/>
          <a:p>
            <a:pPr indent="0" marL="0">
              <a:buNone/>
            </a:pPr>
            <a:r>
              <a:rPr lang="en-US" sz="1900" b="1" dirty="0">
                <a:solidFill>
                  <a:srgbClr val="007F60"/>
                </a:solidFill>
                <a:latin typeface="Trebuchet MS" pitchFamily="34" charset="0"/>
                <a:ea typeface="Trebuchet MS" pitchFamily="34" charset="-122"/>
                <a:cs typeface="Trebuchet MS" pitchFamily="34" charset="-120"/>
              </a:rPr>
              <a:t>30%</a:t>
            </a:r>
            <a:endParaRPr lang="en-US" sz="1900" dirty="0"/>
          </a:p>
        </p:txBody>
      </p:sp>
      <p:sp>
        <p:nvSpPr>
          <p:cNvPr id="9" name="Text 7"/>
          <p:cNvSpPr/>
          <p:nvPr/>
        </p:nvSpPr>
        <p:spPr>
          <a:xfrm>
            <a:off x="594360" y="2468880"/>
            <a:ext cx="2103120" cy="320040"/>
          </a:xfrm>
          <a:prstGeom prst="rect">
            <a:avLst/>
          </a:prstGeom>
          <a:noFill/>
          <a:ln/>
        </p:spPr>
        <p:txBody>
          <a:bodyPr wrap="square" lIns="0" tIns="0" rIns="0" bIns="0" rtlCol="0" anchor="t"/>
          <a:lstStyle/>
          <a:p>
            <a:pPr indent="0" marL="0">
              <a:buNone/>
            </a:pPr>
            <a:r>
              <a:rPr lang="en-US" sz="2000" dirty="0">
                <a:solidFill>
                  <a:srgbClr val="123A32"/>
                </a:solidFill>
                <a:latin typeface="Calibri" pitchFamily="34" charset="0"/>
                <a:ea typeface="Calibri" pitchFamily="34" charset="-122"/>
                <a:cs typeface="Calibri" pitchFamily="34" charset="-120"/>
              </a:rPr>
              <a:t>Attendance</a:t>
            </a:r>
            <a:endParaRPr lang="en-US" sz="2000" dirty="0"/>
          </a:p>
        </p:txBody>
      </p:sp>
      <p:sp>
        <p:nvSpPr>
          <p:cNvPr id="10" name="Shape 8"/>
          <p:cNvSpPr/>
          <p:nvPr/>
        </p:nvSpPr>
        <p:spPr>
          <a:xfrm>
            <a:off x="2880360" y="2468880"/>
            <a:ext cx="2743200" cy="320040"/>
          </a:xfrm>
          <a:prstGeom prst="rect">
            <a:avLst/>
          </a:prstGeom>
          <a:solidFill>
            <a:srgbClr val="007F60"/>
          </a:solidFill>
          <a:ln w="12700">
            <a:solidFill>
              <a:srgbClr val="007F60"/>
            </a:solidFill>
            <a:prstDash val="solid"/>
          </a:ln>
        </p:spPr>
      </p:sp>
      <p:sp>
        <p:nvSpPr>
          <p:cNvPr id="11" name="Text 9"/>
          <p:cNvSpPr/>
          <p:nvPr/>
        </p:nvSpPr>
        <p:spPr>
          <a:xfrm>
            <a:off x="7178040" y="2468880"/>
            <a:ext cx="731520" cy="365760"/>
          </a:xfrm>
          <a:prstGeom prst="rect">
            <a:avLst/>
          </a:prstGeom>
          <a:noFill/>
          <a:ln/>
        </p:spPr>
        <p:txBody>
          <a:bodyPr wrap="square" lIns="0" tIns="0" rIns="0" bIns="0" rtlCol="0" anchor="t"/>
          <a:lstStyle/>
          <a:p>
            <a:pPr indent="0" marL="0">
              <a:buNone/>
            </a:pPr>
            <a:r>
              <a:rPr lang="en-US" sz="1900" b="1" dirty="0">
                <a:solidFill>
                  <a:srgbClr val="007F60"/>
                </a:solidFill>
                <a:latin typeface="Trebuchet MS" pitchFamily="34" charset="0"/>
                <a:ea typeface="Trebuchet MS" pitchFamily="34" charset="-122"/>
                <a:cs typeface="Trebuchet MS" pitchFamily="34" charset="-120"/>
              </a:rPr>
              <a:t>20%</a:t>
            </a:r>
            <a:endParaRPr lang="en-US" sz="1900" dirty="0"/>
          </a:p>
        </p:txBody>
      </p:sp>
      <p:sp>
        <p:nvSpPr>
          <p:cNvPr id="12" name="Text 10"/>
          <p:cNvSpPr/>
          <p:nvPr/>
        </p:nvSpPr>
        <p:spPr>
          <a:xfrm>
            <a:off x="594360" y="3063240"/>
            <a:ext cx="2103120" cy="320040"/>
          </a:xfrm>
          <a:prstGeom prst="rect">
            <a:avLst/>
          </a:prstGeom>
          <a:noFill/>
          <a:ln/>
        </p:spPr>
        <p:txBody>
          <a:bodyPr wrap="square" lIns="0" tIns="0" rIns="0" bIns="0" rtlCol="0" anchor="t"/>
          <a:lstStyle/>
          <a:p>
            <a:pPr indent="0" marL="0">
              <a:buNone/>
            </a:pPr>
            <a:r>
              <a:rPr lang="en-US" sz="2000" dirty="0">
                <a:solidFill>
                  <a:srgbClr val="123A32"/>
                </a:solidFill>
                <a:latin typeface="Calibri" pitchFamily="34" charset="0"/>
                <a:ea typeface="Calibri" pitchFamily="34" charset="-122"/>
                <a:cs typeface="Calibri" pitchFamily="34" charset="-120"/>
              </a:rPr>
              <a:t>LMS</a:t>
            </a:r>
            <a:endParaRPr lang="en-US" sz="2000" dirty="0"/>
          </a:p>
        </p:txBody>
      </p:sp>
      <p:sp>
        <p:nvSpPr>
          <p:cNvPr id="13" name="Shape 11"/>
          <p:cNvSpPr/>
          <p:nvPr/>
        </p:nvSpPr>
        <p:spPr>
          <a:xfrm>
            <a:off x="2880360" y="3063240"/>
            <a:ext cx="2057400" cy="320040"/>
          </a:xfrm>
          <a:prstGeom prst="rect">
            <a:avLst/>
          </a:prstGeom>
          <a:solidFill>
            <a:srgbClr val="007F60"/>
          </a:solidFill>
          <a:ln w="12700">
            <a:solidFill>
              <a:srgbClr val="007F60"/>
            </a:solidFill>
            <a:prstDash val="solid"/>
          </a:ln>
        </p:spPr>
      </p:sp>
      <p:sp>
        <p:nvSpPr>
          <p:cNvPr id="14" name="Text 12"/>
          <p:cNvSpPr/>
          <p:nvPr/>
        </p:nvSpPr>
        <p:spPr>
          <a:xfrm>
            <a:off x="7178040" y="3063240"/>
            <a:ext cx="731520" cy="365760"/>
          </a:xfrm>
          <a:prstGeom prst="rect">
            <a:avLst/>
          </a:prstGeom>
          <a:noFill/>
          <a:ln/>
        </p:spPr>
        <p:txBody>
          <a:bodyPr wrap="square" lIns="0" tIns="0" rIns="0" bIns="0" rtlCol="0" anchor="t"/>
          <a:lstStyle/>
          <a:p>
            <a:pPr indent="0" marL="0">
              <a:buNone/>
            </a:pPr>
            <a:r>
              <a:rPr lang="en-US" sz="1900" b="1" dirty="0">
                <a:solidFill>
                  <a:srgbClr val="007F60"/>
                </a:solidFill>
                <a:latin typeface="Trebuchet MS" pitchFamily="34" charset="0"/>
                <a:ea typeface="Trebuchet MS" pitchFamily="34" charset="-122"/>
                <a:cs typeface="Trebuchet MS" pitchFamily="34" charset="-120"/>
              </a:rPr>
              <a:t>15%</a:t>
            </a:r>
            <a:endParaRPr lang="en-US" sz="1900" dirty="0"/>
          </a:p>
        </p:txBody>
      </p:sp>
      <p:sp>
        <p:nvSpPr>
          <p:cNvPr id="15" name="Text 13"/>
          <p:cNvSpPr/>
          <p:nvPr/>
        </p:nvSpPr>
        <p:spPr>
          <a:xfrm>
            <a:off x="594360" y="3657600"/>
            <a:ext cx="2103120" cy="320040"/>
          </a:xfrm>
          <a:prstGeom prst="rect">
            <a:avLst/>
          </a:prstGeom>
          <a:noFill/>
          <a:ln/>
        </p:spPr>
        <p:txBody>
          <a:bodyPr wrap="square" lIns="0" tIns="0" rIns="0" bIns="0" rtlCol="0" anchor="t"/>
          <a:lstStyle/>
          <a:p>
            <a:pPr indent="0" marL="0">
              <a:buNone/>
            </a:pPr>
            <a:r>
              <a:rPr lang="en-US" sz="2000" dirty="0">
                <a:solidFill>
                  <a:srgbClr val="123A32"/>
                </a:solidFill>
                <a:latin typeface="Calibri" pitchFamily="34" charset="0"/>
                <a:ea typeface="Calibri" pitchFamily="34" charset="-122"/>
                <a:cs typeface="Calibri" pitchFamily="34" charset="-120"/>
              </a:rPr>
              <a:t>Placement</a:t>
            </a:r>
            <a:endParaRPr lang="en-US" sz="2000" dirty="0"/>
          </a:p>
        </p:txBody>
      </p:sp>
      <p:sp>
        <p:nvSpPr>
          <p:cNvPr id="16" name="Shape 14"/>
          <p:cNvSpPr/>
          <p:nvPr/>
        </p:nvSpPr>
        <p:spPr>
          <a:xfrm>
            <a:off x="2880360" y="3657600"/>
            <a:ext cx="2057400" cy="320040"/>
          </a:xfrm>
          <a:prstGeom prst="rect">
            <a:avLst/>
          </a:prstGeom>
          <a:solidFill>
            <a:srgbClr val="007F60"/>
          </a:solidFill>
          <a:ln w="12700">
            <a:solidFill>
              <a:srgbClr val="007F60"/>
            </a:solidFill>
            <a:prstDash val="solid"/>
          </a:ln>
        </p:spPr>
      </p:sp>
      <p:sp>
        <p:nvSpPr>
          <p:cNvPr id="17" name="Text 15"/>
          <p:cNvSpPr/>
          <p:nvPr/>
        </p:nvSpPr>
        <p:spPr>
          <a:xfrm>
            <a:off x="7178040" y="3657600"/>
            <a:ext cx="731520" cy="365760"/>
          </a:xfrm>
          <a:prstGeom prst="rect">
            <a:avLst/>
          </a:prstGeom>
          <a:noFill/>
          <a:ln/>
        </p:spPr>
        <p:txBody>
          <a:bodyPr wrap="square" lIns="0" tIns="0" rIns="0" bIns="0" rtlCol="0" anchor="t"/>
          <a:lstStyle/>
          <a:p>
            <a:pPr indent="0" marL="0">
              <a:buNone/>
            </a:pPr>
            <a:r>
              <a:rPr lang="en-US" sz="1900" b="1" dirty="0">
                <a:solidFill>
                  <a:srgbClr val="007F60"/>
                </a:solidFill>
                <a:latin typeface="Trebuchet MS" pitchFamily="34" charset="0"/>
                <a:ea typeface="Trebuchet MS" pitchFamily="34" charset="-122"/>
                <a:cs typeface="Trebuchet MS" pitchFamily="34" charset="-120"/>
              </a:rPr>
              <a:t>15%</a:t>
            </a:r>
            <a:endParaRPr lang="en-US" sz="1900" dirty="0"/>
          </a:p>
        </p:txBody>
      </p:sp>
      <p:sp>
        <p:nvSpPr>
          <p:cNvPr id="18" name="Text 16"/>
          <p:cNvSpPr/>
          <p:nvPr/>
        </p:nvSpPr>
        <p:spPr>
          <a:xfrm>
            <a:off x="594360" y="4251960"/>
            <a:ext cx="2103120" cy="320040"/>
          </a:xfrm>
          <a:prstGeom prst="rect">
            <a:avLst/>
          </a:prstGeom>
          <a:noFill/>
          <a:ln/>
        </p:spPr>
        <p:txBody>
          <a:bodyPr wrap="square" lIns="0" tIns="0" rIns="0" bIns="0" rtlCol="0" anchor="t"/>
          <a:lstStyle/>
          <a:p>
            <a:pPr indent="0" marL="0">
              <a:buNone/>
            </a:pPr>
            <a:r>
              <a:rPr lang="en-US" sz="2000" dirty="0">
                <a:solidFill>
                  <a:srgbClr val="123A32"/>
                </a:solidFill>
                <a:latin typeface="Calibri" pitchFamily="34" charset="0"/>
                <a:ea typeface="Calibri" pitchFamily="34" charset="-122"/>
                <a:cs typeface="Calibri" pitchFamily="34" charset="-120"/>
              </a:rPr>
              <a:t>Skills</a:t>
            </a:r>
            <a:endParaRPr lang="en-US" sz="2000" dirty="0"/>
          </a:p>
        </p:txBody>
      </p:sp>
      <p:sp>
        <p:nvSpPr>
          <p:cNvPr id="19" name="Shape 17"/>
          <p:cNvSpPr/>
          <p:nvPr/>
        </p:nvSpPr>
        <p:spPr>
          <a:xfrm>
            <a:off x="2880360" y="4251960"/>
            <a:ext cx="1371600" cy="320040"/>
          </a:xfrm>
          <a:prstGeom prst="rect">
            <a:avLst/>
          </a:prstGeom>
          <a:solidFill>
            <a:srgbClr val="007F60"/>
          </a:solidFill>
          <a:ln w="12700">
            <a:solidFill>
              <a:srgbClr val="007F60"/>
            </a:solidFill>
            <a:prstDash val="solid"/>
          </a:ln>
        </p:spPr>
      </p:sp>
      <p:sp>
        <p:nvSpPr>
          <p:cNvPr id="20" name="Text 18"/>
          <p:cNvSpPr/>
          <p:nvPr/>
        </p:nvSpPr>
        <p:spPr>
          <a:xfrm>
            <a:off x="7178040" y="4251960"/>
            <a:ext cx="731520" cy="365760"/>
          </a:xfrm>
          <a:prstGeom prst="rect">
            <a:avLst/>
          </a:prstGeom>
          <a:noFill/>
          <a:ln/>
        </p:spPr>
        <p:txBody>
          <a:bodyPr wrap="square" lIns="0" tIns="0" rIns="0" bIns="0" rtlCol="0" anchor="t"/>
          <a:lstStyle/>
          <a:p>
            <a:pPr indent="0" marL="0">
              <a:buNone/>
            </a:pPr>
            <a:r>
              <a:rPr lang="en-US" sz="1900" b="1" dirty="0">
                <a:solidFill>
                  <a:srgbClr val="007F60"/>
                </a:solidFill>
                <a:latin typeface="Trebuchet MS" pitchFamily="34" charset="0"/>
                <a:ea typeface="Trebuchet MS" pitchFamily="34" charset="-122"/>
                <a:cs typeface="Trebuchet MS" pitchFamily="34" charset="-120"/>
              </a:rPr>
              <a:t>10%</a:t>
            </a:r>
            <a:endParaRPr lang="en-US" sz="1900" dirty="0"/>
          </a:p>
        </p:txBody>
      </p:sp>
      <p:sp>
        <p:nvSpPr>
          <p:cNvPr id="21" name="Text 19"/>
          <p:cNvSpPr/>
          <p:nvPr/>
        </p:nvSpPr>
        <p:spPr>
          <a:xfrm>
            <a:off x="594360" y="4846320"/>
            <a:ext cx="2103120" cy="320040"/>
          </a:xfrm>
          <a:prstGeom prst="rect">
            <a:avLst/>
          </a:prstGeom>
          <a:noFill/>
          <a:ln/>
        </p:spPr>
        <p:txBody>
          <a:bodyPr wrap="square" lIns="0" tIns="0" rIns="0" bIns="0" rtlCol="0" anchor="t"/>
          <a:lstStyle/>
          <a:p>
            <a:pPr indent="0" marL="0">
              <a:buNone/>
            </a:pPr>
            <a:r>
              <a:rPr lang="en-US" sz="2000" dirty="0">
                <a:solidFill>
                  <a:srgbClr val="123A32"/>
                </a:solidFill>
                <a:latin typeface="Calibri" pitchFamily="34" charset="0"/>
                <a:ea typeface="Calibri" pitchFamily="34" charset="-122"/>
                <a:cs typeface="Calibri" pitchFamily="34" charset="-120"/>
              </a:rPr>
              <a:t>Engagement</a:t>
            </a:r>
            <a:endParaRPr lang="en-US" sz="2000" dirty="0"/>
          </a:p>
        </p:txBody>
      </p:sp>
      <p:sp>
        <p:nvSpPr>
          <p:cNvPr id="22" name="Shape 20"/>
          <p:cNvSpPr/>
          <p:nvPr/>
        </p:nvSpPr>
        <p:spPr>
          <a:xfrm>
            <a:off x="2880360" y="4846320"/>
            <a:ext cx="1371600" cy="320040"/>
          </a:xfrm>
          <a:prstGeom prst="rect">
            <a:avLst/>
          </a:prstGeom>
          <a:solidFill>
            <a:srgbClr val="007F60"/>
          </a:solidFill>
          <a:ln w="12700">
            <a:solidFill>
              <a:srgbClr val="007F60"/>
            </a:solidFill>
            <a:prstDash val="solid"/>
          </a:ln>
        </p:spPr>
      </p:sp>
      <p:sp>
        <p:nvSpPr>
          <p:cNvPr id="23" name="Text 21"/>
          <p:cNvSpPr/>
          <p:nvPr/>
        </p:nvSpPr>
        <p:spPr>
          <a:xfrm>
            <a:off x="7178040" y="4846320"/>
            <a:ext cx="731520" cy="365760"/>
          </a:xfrm>
          <a:prstGeom prst="rect">
            <a:avLst/>
          </a:prstGeom>
          <a:noFill/>
          <a:ln/>
        </p:spPr>
        <p:txBody>
          <a:bodyPr wrap="square" lIns="0" tIns="0" rIns="0" bIns="0" rtlCol="0" anchor="t"/>
          <a:lstStyle/>
          <a:p>
            <a:pPr indent="0" marL="0">
              <a:buNone/>
            </a:pPr>
            <a:r>
              <a:rPr lang="en-US" sz="1900" b="1" dirty="0">
                <a:solidFill>
                  <a:srgbClr val="007F60"/>
                </a:solidFill>
                <a:latin typeface="Trebuchet MS" pitchFamily="34" charset="0"/>
                <a:ea typeface="Trebuchet MS" pitchFamily="34" charset="-122"/>
                <a:cs typeface="Trebuchet MS" pitchFamily="34" charset="-120"/>
              </a:rPr>
              <a:t>10%</a:t>
            </a:r>
            <a:endParaRPr lang="en-US" sz="1900" dirty="0"/>
          </a:p>
        </p:txBody>
      </p:sp>
      <p:sp>
        <p:nvSpPr>
          <p:cNvPr id="24" name="Shape 22"/>
          <p:cNvSpPr/>
          <p:nvPr/>
        </p:nvSpPr>
        <p:spPr>
          <a:xfrm>
            <a:off x="8229600" y="1874520"/>
            <a:ext cx="3474720" cy="4114800"/>
          </a:xfrm>
          <a:prstGeom prst="rect">
            <a:avLst/>
          </a:prstGeom>
          <a:solidFill>
            <a:srgbClr val="FFFFFF"/>
          </a:solidFill>
          <a:ln w="12700">
            <a:solidFill>
              <a:srgbClr val="FFFFFF"/>
            </a:solidFill>
            <a:prstDash val="solid"/>
          </a:ln>
        </p:spPr>
      </p:sp>
      <p:sp>
        <p:nvSpPr>
          <p:cNvPr id="25" name="Shape 23"/>
          <p:cNvSpPr/>
          <p:nvPr/>
        </p:nvSpPr>
        <p:spPr>
          <a:xfrm>
            <a:off x="8229600" y="1874520"/>
            <a:ext cx="64008" cy="4114800"/>
          </a:xfrm>
          <a:prstGeom prst="rect">
            <a:avLst/>
          </a:prstGeom>
          <a:solidFill>
            <a:srgbClr val="007F60"/>
          </a:solidFill>
          <a:ln w="12700">
            <a:solidFill>
              <a:srgbClr val="007F60"/>
            </a:solidFill>
            <a:prstDash val="solid"/>
          </a:ln>
        </p:spPr>
      </p:sp>
      <p:sp>
        <p:nvSpPr>
          <p:cNvPr id="26" name="Text 24"/>
          <p:cNvSpPr/>
          <p:nvPr/>
        </p:nvSpPr>
        <p:spPr>
          <a:xfrm>
            <a:off x="8430768" y="2011680"/>
            <a:ext cx="309067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Weighted mean</a:t>
            </a:r>
            <a:endParaRPr lang="en-US" sz="2100" dirty="0"/>
          </a:p>
        </p:txBody>
      </p:sp>
      <p:sp>
        <p:nvSpPr>
          <p:cNvPr id="27" name="Text 25"/>
          <p:cNvSpPr/>
          <p:nvPr/>
        </p:nvSpPr>
        <p:spPr>
          <a:xfrm>
            <a:off x="8430768" y="2852928"/>
            <a:ext cx="3072384" cy="301752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Score = Σ(component × weight) / Σ(present weights)</a:t>
            </a:r>
            <a:endParaRPr lang="en-US" sz="1800" dirty="0"/>
          </a:p>
          <a:p>
            <a:pPr indent="0" marL="0">
              <a:buNone/>
            </a:pP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Missing components are disclosed and excluded—not assigned zero.</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MODEL &amp; REQUIREMENTS</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How each component becomes a 0–100 value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20</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4389120"/>
        </p:xfrm>
        <a:graphic>
          <a:graphicData uri="http://schemas.openxmlformats.org/drawingml/2006/table">
            <a:tbl>
              <a:tblPr/>
              <a:tblGrid>
                <a:gridCol w="2286000"/>
                <a:gridCol w="8869680"/>
              </a:tblGrid>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Component</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Formula / present-data handling</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Academics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CGPA × 10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Attendance</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Total attended / total held × 100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LMS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Mean of lesson % and assignment % when present</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Skills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Mean of coding, aptitude, verbal and communication</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Engagement</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min(100, clubs×8 + events×4 + hackathons×12 + certs×10)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Placement</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Available-weight mean: resume 40%, assessments 30%, mocks 30%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RISK MODEL</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Bands and flags answer different questions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21</a:t>
            </a:r>
            <a:endParaRPr lang="en-US" sz="1100" dirty="0"/>
          </a:p>
        </p:txBody>
      </p:sp>
      <p:sp>
        <p:nvSpPr>
          <p:cNvPr id="6" name="Shape 4"/>
          <p:cNvSpPr/>
          <p:nvPr/>
        </p:nvSpPr>
        <p:spPr>
          <a:xfrm>
            <a:off x="502920" y="1874520"/>
            <a:ext cx="2606040" cy="1691640"/>
          </a:xfrm>
          <a:prstGeom prst="rect">
            <a:avLst/>
          </a:prstGeom>
          <a:solidFill>
            <a:srgbClr val="FFFFFF"/>
          </a:solidFill>
          <a:ln w="12700">
            <a:solidFill>
              <a:srgbClr val="FFFFFF"/>
            </a:solidFill>
            <a:prstDash val="solid"/>
          </a:ln>
        </p:spPr>
      </p:sp>
      <p:sp>
        <p:nvSpPr>
          <p:cNvPr id="7" name="Shape 5"/>
          <p:cNvSpPr/>
          <p:nvPr/>
        </p:nvSpPr>
        <p:spPr>
          <a:xfrm>
            <a:off x="502920" y="1874520"/>
            <a:ext cx="64008" cy="1691640"/>
          </a:xfrm>
          <a:prstGeom prst="rect">
            <a:avLst/>
          </a:prstGeom>
          <a:solidFill>
            <a:srgbClr val="007F60"/>
          </a:solidFill>
          <a:ln w="12700">
            <a:solidFill>
              <a:srgbClr val="007F60"/>
            </a:solidFill>
            <a:prstDash val="solid"/>
          </a:ln>
        </p:spPr>
      </p:sp>
      <p:sp>
        <p:nvSpPr>
          <p:cNvPr id="8" name="Text 6"/>
          <p:cNvSpPr/>
          <p:nvPr/>
        </p:nvSpPr>
        <p:spPr>
          <a:xfrm>
            <a:off x="704088" y="2011680"/>
            <a:ext cx="22219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 80</a:t>
            </a:r>
            <a:endParaRPr lang="en-US" sz="2100" dirty="0"/>
          </a:p>
        </p:txBody>
      </p:sp>
      <p:sp>
        <p:nvSpPr>
          <p:cNvPr id="9" name="Text 7"/>
          <p:cNvSpPr/>
          <p:nvPr/>
        </p:nvSpPr>
        <p:spPr>
          <a:xfrm>
            <a:off x="704088" y="2852928"/>
            <a:ext cx="2203704" cy="59436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On Track</a:t>
            </a:r>
            <a:endParaRPr lang="en-US" sz="1800" dirty="0"/>
          </a:p>
        </p:txBody>
      </p:sp>
      <p:sp>
        <p:nvSpPr>
          <p:cNvPr id="10" name="Shape 8"/>
          <p:cNvSpPr/>
          <p:nvPr/>
        </p:nvSpPr>
        <p:spPr>
          <a:xfrm>
            <a:off x="3355848" y="1874520"/>
            <a:ext cx="2606040" cy="1691640"/>
          </a:xfrm>
          <a:prstGeom prst="rect">
            <a:avLst/>
          </a:prstGeom>
          <a:solidFill>
            <a:srgbClr val="FFFFFF"/>
          </a:solidFill>
          <a:ln w="12700">
            <a:solidFill>
              <a:srgbClr val="FFFFFF"/>
            </a:solidFill>
            <a:prstDash val="solid"/>
          </a:ln>
        </p:spPr>
      </p:sp>
      <p:sp>
        <p:nvSpPr>
          <p:cNvPr id="11" name="Shape 9"/>
          <p:cNvSpPr/>
          <p:nvPr/>
        </p:nvSpPr>
        <p:spPr>
          <a:xfrm>
            <a:off x="3355848" y="1874520"/>
            <a:ext cx="64008" cy="1691640"/>
          </a:xfrm>
          <a:prstGeom prst="rect">
            <a:avLst/>
          </a:prstGeom>
          <a:solidFill>
            <a:srgbClr val="007F60"/>
          </a:solidFill>
          <a:ln w="12700">
            <a:solidFill>
              <a:srgbClr val="007F60"/>
            </a:solidFill>
            <a:prstDash val="solid"/>
          </a:ln>
        </p:spPr>
      </p:sp>
      <p:sp>
        <p:nvSpPr>
          <p:cNvPr id="12" name="Text 10"/>
          <p:cNvSpPr/>
          <p:nvPr/>
        </p:nvSpPr>
        <p:spPr>
          <a:xfrm>
            <a:off x="3557016" y="2011680"/>
            <a:ext cx="22219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65–&lt;80</a:t>
            </a:r>
            <a:endParaRPr lang="en-US" sz="2100" dirty="0"/>
          </a:p>
        </p:txBody>
      </p:sp>
      <p:sp>
        <p:nvSpPr>
          <p:cNvPr id="13" name="Text 11"/>
          <p:cNvSpPr/>
          <p:nvPr/>
        </p:nvSpPr>
        <p:spPr>
          <a:xfrm>
            <a:off x="3557016" y="2852928"/>
            <a:ext cx="2203704" cy="59436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Monitor</a:t>
            </a:r>
            <a:endParaRPr lang="en-US" sz="1800" dirty="0"/>
          </a:p>
        </p:txBody>
      </p:sp>
      <p:sp>
        <p:nvSpPr>
          <p:cNvPr id="14" name="Shape 12"/>
          <p:cNvSpPr/>
          <p:nvPr/>
        </p:nvSpPr>
        <p:spPr>
          <a:xfrm>
            <a:off x="6208776" y="1874520"/>
            <a:ext cx="2606040" cy="1691640"/>
          </a:xfrm>
          <a:prstGeom prst="rect">
            <a:avLst/>
          </a:prstGeom>
          <a:solidFill>
            <a:srgbClr val="FFFFFF"/>
          </a:solidFill>
          <a:ln w="12700">
            <a:solidFill>
              <a:srgbClr val="FFFFFF"/>
            </a:solidFill>
            <a:prstDash val="solid"/>
          </a:ln>
        </p:spPr>
      </p:sp>
      <p:sp>
        <p:nvSpPr>
          <p:cNvPr id="15" name="Shape 13"/>
          <p:cNvSpPr/>
          <p:nvPr/>
        </p:nvSpPr>
        <p:spPr>
          <a:xfrm>
            <a:off x="6208776" y="1874520"/>
            <a:ext cx="64008" cy="1691640"/>
          </a:xfrm>
          <a:prstGeom prst="rect">
            <a:avLst/>
          </a:prstGeom>
          <a:solidFill>
            <a:srgbClr val="007F60"/>
          </a:solidFill>
          <a:ln w="12700">
            <a:solidFill>
              <a:srgbClr val="007F60"/>
            </a:solidFill>
            <a:prstDash val="solid"/>
          </a:ln>
        </p:spPr>
      </p:sp>
      <p:sp>
        <p:nvSpPr>
          <p:cNvPr id="16" name="Text 14"/>
          <p:cNvSpPr/>
          <p:nvPr/>
        </p:nvSpPr>
        <p:spPr>
          <a:xfrm>
            <a:off x="6409944" y="2011680"/>
            <a:ext cx="22219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50–&lt;65</a:t>
            </a:r>
            <a:endParaRPr lang="en-US" sz="2100" dirty="0"/>
          </a:p>
        </p:txBody>
      </p:sp>
      <p:sp>
        <p:nvSpPr>
          <p:cNvPr id="17" name="Text 15"/>
          <p:cNvSpPr/>
          <p:nvPr/>
        </p:nvSpPr>
        <p:spPr>
          <a:xfrm>
            <a:off x="6409944" y="2852928"/>
            <a:ext cx="2203704" cy="59436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Needs Attention</a:t>
            </a:r>
            <a:endParaRPr lang="en-US" sz="1800" dirty="0"/>
          </a:p>
        </p:txBody>
      </p:sp>
      <p:sp>
        <p:nvSpPr>
          <p:cNvPr id="18" name="Shape 16"/>
          <p:cNvSpPr/>
          <p:nvPr/>
        </p:nvSpPr>
        <p:spPr>
          <a:xfrm>
            <a:off x="9061704" y="1874520"/>
            <a:ext cx="2606040" cy="1691640"/>
          </a:xfrm>
          <a:prstGeom prst="rect">
            <a:avLst/>
          </a:prstGeom>
          <a:solidFill>
            <a:srgbClr val="FFFFFF"/>
          </a:solidFill>
          <a:ln w="12700">
            <a:solidFill>
              <a:srgbClr val="FFFFFF"/>
            </a:solidFill>
            <a:prstDash val="solid"/>
          </a:ln>
        </p:spPr>
      </p:sp>
      <p:sp>
        <p:nvSpPr>
          <p:cNvPr id="19" name="Shape 17"/>
          <p:cNvSpPr/>
          <p:nvPr/>
        </p:nvSpPr>
        <p:spPr>
          <a:xfrm>
            <a:off x="9061704" y="1874520"/>
            <a:ext cx="64008" cy="1691640"/>
          </a:xfrm>
          <a:prstGeom prst="rect">
            <a:avLst/>
          </a:prstGeom>
          <a:solidFill>
            <a:srgbClr val="007F60"/>
          </a:solidFill>
          <a:ln w="12700">
            <a:solidFill>
              <a:srgbClr val="007F60"/>
            </a:solidFill>
            <a:prstDash val="solid"/>
          </a:ln>
        </p:spPr>
      </p:sp>
      <p:sp>
        <p:nvSpPr>
          <p:cNvPr id="20" name="Text 18"/>
          <p:cNvSpPr/>
          <p:nvPr/>
        </p:nvSpPr>
        <p:spPr>
          <a:xfrm>
            <a:off x="9262872" y="2011680"/>
            <a:ext cx="22219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&lt; 50</a:t>
            </a:r>
            <a:endParaRPr lang="en-US" sz="2100" dirty="0"/>
          </a:p>
        </p:txBody>
      </p:sp>
      <p:sp>
        <p:nvSpPr>
          <p:cNvPr id="21" name="Text 19"/>
          <p:cNvSpPr/>
          <p:nvPr/>
        </p:nvSpPr>
        <p:spPr>
          <a:xfrm>
            <a:off x="9262872" y="2852928"/>
            <a:ext cx="2203704" cy="59436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High Priority</a:t>
            </a:r>
            <a:endParaRPr lang="en-US" sz="1800" dirty="0"/>
          </a:p>
        </p:txBody>
      </p:sp>
      <p:sp>
        <p:nvSpPr>
          <p:cNvPr id="22" name="Shape 20"/>
          <p:cNvSpPr/>
          <p:nvPr/>
        </p:nvSpPr>
        <p:spPr>
          <a:xfrm>
            <a:off x="502920" y="3977640"/>
            <a:ext cx="5394960" cy="1783080"/>
          </a:xfrm>
          <a:prstGeom prst="rect">
            <a:avLst/>
          </a:prstGeom>
          <a:solidFill>
            <a:srgbClr val="FFFFFF"/>
          </a:solidFill>
          <a:ln w="12700">
            <a:solidFill>
              <a:srgbClr val="FFFFFF"/>
            </a:solidFill>
            <a:prstDash val="solid"/>
          </a:ln>
        </p:spPr>
      </p:sp>
      <p:sp>
        <p:nvSpPr>
          <p:cNvPr id="23" name="Shape 21"/>
          <p:cNvSpPr/>
          <p:nvPr/>
        </p:nvSpPr>
        <p:spPr>
          <a:xfrm>
            <a:off x="502920" y="3977640"/>
            <a:ext cx="64008" cy="1783080"/>
          </a:xfrm>
          <a:prstGeom prst="rect">
            <a:avLst/>
          </a:prstGeom>
          <a:solidFill>
            <a:srgbClr val="007F60"/>
          </a:solidFill>
          <a:ln w="12700">
            <a:solidFill>
              <a:srgbClr val="007F60"/>
            </a:solidFill>
            <a:prstDash val="solid"/>
          </a:ln>
        </p:spPr>
      </p:sp>
      <p:sp>
        <p:nvSpPr>
          <p:cNvPr id="24" name="Text 22"/>
          <p:cNvSpPr/>
          <p:nvPr/>
        </p:nvSpPr>
        <p:spPr>
          <a:xfrm>
            <a:off x="704088" y="4114800"/>
            <a:ext cx="501091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Safety override</a:t>
            </a:r>
            <a:endParaRPr lang="en-US" sz="2100" dirty="0"/>
          </a:p>
        </p:txBody>
      </p:sp>
      <p:sp>
        <p:nvSpPr>
          <p:cNvPr id="25" name="Text 23"/>
          <p:cNvSpPr/>
          <p:nvPr/>
        </p:nvSpPr>
        <p:spPr>
          <a:xfrm>
            <a:off x="704088" y="4956048"/>
            <a:ext cx="499262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If either Academic or Placement Risk is High, an On Track base band becomes Monitor.</a:t>
            </a:r>
            <a:endParaRPr lang="en-US" sz="1800" dirty="0"/>
          </a:p>
        </p:txBody>
      </p:sp>
      <p:sp>
        <p:nvSpPr>
          <p:cNvPr id="26" name="Shape 24"/>
          <p:cNvSpPr/>
          <p:nvPr/>
        </p:nvSpPr>
        <p:spPr>
          <a:xfrm>
            <a:off x="6172200" y="3977640"/>
            <a:ext cx="5532120" cy="1783080"/>
          </a:xfrm>
          <a:prstGeom prst="rect">
            <a:avLst/>
          </a:prstGeom>
          <a:solidFill>
            <a:srgbClr val="FFFFFF"/>
          </a:solidFill>
          <a:ln w="12700">
            <a:solidFill>
              <a:srgbClr val="FFFFFF"/>
            </a:solidFill>
            <a:prstDash val="solid"/>
          </a:ln>
        </p:spPr>
      </p:sp>
      <p:sp>
        <p:nvSpPr>
          <p:cNvPr id="27" name="Shape 25"/>
          <p:cNvSpPr/>
          <p:nvPr/>
        </p:nvSpPr>
        <p:spPr>
          <a:xfrm>
            <a:off x="6172200" y="3977640"/>
            <a:ext cx="64008" cy="1783080"/>
          </a:xfrm>
          <a:prstGeom prst="rect">
            <a:avLst/>
          </a:prstGeom>
          <a:solidFill>
            <a:srgbClr val="007F60"/>
          </a:solidFill>
          <a:ln w="12700">
            <a:solidFill>
              <a:srgbClr val="007F60"/>
            </a:solidFill>
            <a:prstDash val="solid"/>
          </a:ln>
        </p:spPr>
      </p:sp>
      <p:sp>
        <p:nvSpPr>
          <p:cNvPr id="28" name="Text 26"/>
          <p:cNvSpPr/>
          <p:nvPr/>
        </p:nvSpPr>
        <p:spPr>
          <a:xfrm>
            <a:off x="6373368" y="4114800"/>
            <a:ext cx="514807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Requirements reconciliation</a:t>
            </a:r>
            <a:endParaRPr lang="en-US" sz="2100" dirty="0"/>
          </a:p>
        </p:txBody>
      </p:sp>
      <p:sp>
        <p:nvSpPr>
          <p:cNvPr id="29" name="Text 27"/>
          <p:cNvSpPr/>
          <p:nvPr/>
        </p:nvSpPr>
        <p:spPr>
          <a:xfrm>
            <a:off x="6373368" y="4956048"/>
            <a:ext cx="512978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The earlier prompt used 40 as the lower boundary. The uploaded dataset uses 50; this demo follows the dataset.</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MODEL &amp; REQUIREMENTS</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Academic Risk: shared points-based rules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22</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4389120"/>
        </p:xfrm>
        <a:graphic>
          <a:graphicData uri="http://schemas.openxmlformats.org/drawingml/2006/table">
            <a:tbl>
              <a:tblPr/>
              <a:tblGrid>
                <a:gridCol w="3931920"/>
                <a:gridCol w="4754880"/>
                <a:gridCol w="2468880"/>
              </a:tblGrid>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Signal</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Threshold</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Points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Active backlogs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 1</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CGPA</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&lt; 6.0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SGPA drop</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 1.0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Overall attendance</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&lt; 75%</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Subjects under 75%</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 1 subject</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1 each; cap 3</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Lesson completion / assignment completion</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&lt; 50% / &lt; 60%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2 / 1</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MODEL &amp; REQUIREMENTS</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Placement Risk: shared points-based rules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23</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4389120"/>
        </p:xfrm>
        <a:graphic>
          <a:graphicData uri="http://schemas.openxmlformats.org/drawingml/2006/table">
            <a:tbl>
              <a:tblPr/>
              <a:tblGrid>
                <a:gridCol w="3931920"/>
                <a:gridCol w="4754880"/>
                <a:gridCol w="2468880"/>
              </a:tblGrid>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Signal</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Threshold</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Points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Readiness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&lt; 60%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3</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Aptitude / coding</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&lt; 50 / &lt; 50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2 / 2</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Resume completeness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&lt; 70%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Mock interviews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0 completed</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2</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Assessments completed</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&lt; 50%</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Certifications + hackathons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0 total</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Worked example: good CGPA, serious attendance risk</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24</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risk-example.png">    </p:cNvPr>
          <p:cNvPicPr>
            <a:picLocks noChangeAspect="1"/>
          </p:cNvPicPr>
          <p:nvPr/>
        </p:nvPicPr>
        <p:blipFill>
          <a:blip r:embed="rId1"/>
          <a:stretch>
            <a:fillRect/>
          </a:stretch>
        </p:blipFill>
        <p:spPr>
          <a:xfrm>
            <a:off x="2512689" y="1874520"/>
            <a:ext cx="3387102"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Academic: High · 6 pts</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62.7% attendance adds 3; five subjects below 75% add the capped 3.</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Placement: Medium · 5 pts</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55% readiness adds 3; zero completed mock interviews add 2.</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Overall: Monitor</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Score 68.0 and CGPA 7.60 do not erase the two distinct preparation concerns.</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Sahil Naidu · BIB-2026-002 · Actual fictional dataset record.</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ANALYSIS PATTERNS</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Cross-source patterns: explanations, not causal claims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25</a:t>
            </a:r>
            <a:endParaRPr lang="en-US" sz="1100" dirty="0"/>
          </a:p>
        </p:txBody>
      </p:sp>
      <p:sp>
        <p:nvSpPr>
          <p:cNvPr id="6" name="Shape 4"/>
          <p:cNvSpPr/>
          <p:nvPr/>
        </p:nvSpPr>
        <p:spPr>
          <a:xfrm>
            <a:off x="502920" y="1874520"/>
            <a:ext cx="5440680" cy="1143000"/>
          </a:xfrm>
          <a:prstGeom prst="rect">
            <a:avLst/>
          </a:prstGeom>
          <a:solidFill>
            <a:srgbClr val="FFFFFF"/>
          </a:solidFill>
          <a:ln w="12700">
            <a:solidFill>
              <a:srgbClr val="FFFFFF"/>
            </a:solidFill>
            <a:prstDash val="solid"/>
          </a:ln>
        </p:spPr>
      </p:sp>
      <p:sp>
        <p:nvSpPr>
          <p:cNvPr id="7" name="Shape 5"/>
          <p:cNvSpPr/>
          <p:nvPr/>
        </p:nvSpPr>
        <p:spPr>
          <a:xfrm>
            <a:off x="502920" y="1874520"/>
            <a:ext cx="64008" cy="1143000"/>
          </a:xfrm>
          <a:prstGeom prst="rect">
            <a:avLst/>
          </a:prstGeom>
          <a:solidFill>
            <a:srgbClr val="007F60"/>
          </a:solidFill>
          <a:ln w="12700">
            <a:solidFill>
              <a:srgbClr val="007F60"/>
            </a:solidFill>
            <a:prstDash val="solid"/>
          </a:ln>
        </p:spPr>
      </p:sp>
      <p:sp>
        <p:nvSpPr>
          <p:cNvPr id="8" name="Text 6"/>
          <p:cNvSpPr/>
          <p:nvPr/>
        </p:nvSpPr>
        <p:spPr>
          <a:xfrm>
            <a:off x="704088" y="2011680"/>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Good CGPA + poor attendance</a:t>
            </a:r>
            <a:endParaRPr lang="en-US" sz="1800" dirty="0"/>
          </a:p>
        </p:txBody>
      </p:sp>
      <p:sp>
        <p:nvSpPr>
          <p:cNvPr id="9" name="Text 7"/>
          <p:cNvSpPr/>
          <p:nvPr/>
        </p:nvSpPr>
        <p:spPr>
          <a:xfrm>
            <a:off x="704088" y="2478024"/>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Attendance support—not a generic academic weakness label.</a:t>
            </a:r>
            <a:endParaRPr lang="en-US" sz="1600" dirty="0"/>
          </a:p>
        </p:txBody>
      </p:sp>
      <p:sp>
        <p:nvSpPr>
          <p:cNvPr id="10" name="Shape 8"/>
          <p:cNvSpPr/>
          <p:nvPr/>
        </p:nvSpPr>
        <p:spPr>
          <a:xfrm>
            <a:off x="6172200" y="1874520"/>
            <a:ext cx="5440680" cy="1143000"/>
          </a:xfrm>
          <a:prstGeom prst="rect">
            <a:avLst/>
          </a:prstGeom>
          <a:solidFill>
            <a:srgbClr val="FFFFFF"/>
          </a:solidFill>
          <a:ln w="12700">
            <a:solidFill>
              <a:srgbClr val="FFFFFF"/>
            </a:solidFill>
            <a:prstDash val="solid"/>
          </a:ln>
        </p:spPr>
      </p:sp>
      <p:sp>
        <p:nvSpPr>
          <p:cNvPr id="11" name="Shape 9"/>
          <p:cNvSpPr/>
          <p:nvPr/>
        </p:nvSpPr>
        <p:spPr>
          <a:xfrm>
            <a:off x="6172200" y="1874520"/>
            <a:ext cx="64008" cy="1143000"/>
          </a:xfrm>
          <a:prstGeom prst="rect">
            <a:avLst/>
          </a:prstGeom>
          <a:solidFill>
            <a:srgbClr val="007F60"/>
          </a:solidFill>
          <a:ln w="12700">
            <a:solidFill>
              <a:srgbClr val="007F60"/>
            </a:solidFill>
            <a:prstDash val="solid"/>
          </a:ln>
        </p:spPr>
      </p:sp>
      <p:sp>
        <p:nvSpPr>
          <p:cNvPr id="12" name="Text 10"/>
          <p:cNvSpPr/>
          <p:nvPr/>
        </p:nvSpPr>
        <p:spPr>
          <a:xfrm>
            <a:off x="6373368" y="2011680"/>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High attendance + declining grades</a:t>
            </a:r>
            <a:endParaRPr lang="en-US" sz="1800" dirty="0"/>
          </a:p>
        </p:txBody>
      </p:sp>
      <p:sp>
        <p:nvSpPr>
          <p:cNvPr id="13" name="Text 11"/>
          <p:cNvSpPr/>
          <p:nvPr/>
        </p:nvSpPr>
        <p:spPr>
          <a:xfrm>
            <a:off x="6373368" y="2478024"/>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Discuss learning barriers despite consistent class attendance.</a:t>
            </a:r>
            <a:endParaRPr lang="en-US" sz="1600" dirty="0"/>
          </a:p>
        </p:txBody>
      </p:sp>
      <p:sp>
        <p:nvSpPr>
          <p:cNvPr id="14" name="Shape 12"/>
          <p:cNvSpPr/>
          <p:nvPr/>
        </p:nvSpPr>
        <p:spPr>
          <a:xfrm>
            <a:off x="502920" y="3227832"/>
            <a:ext cx="5440680" cy="1143000"/>
          </a:xfrm>
          <a:prstGeom prst="rect">
            <a:avLst/>
          </a:prstGeom>
          <a:solidFill>
            <a:srgbClr val="FFFFFF"/>
          </a:solidFill>
          <a:ln w="12700">
            <a:solidFill>
              <a:srgbClr val="FFFFFF"/>
            </a:solidFill>
            <a:prstDash val="solid"/>
          </a:ln>
        </p:spPr>
      </p:sp>
      <p:sp>
        <p:nvSpPr>
          <p:cNvPr id="15" name="Shape 13"/>
          <p:cNvSpPr/>
          <p:nvPr/>
        </p:nvSpPr>
        <p:spPr>
          <a:xfrm>
            <a:off x="502920" y="3227832"/>
            <a:ext cx="64008" cy="1143000"/>
          </a:xfrm>
          <a:prstGeom prst="rect">
            <a:avLst/>
          </a:prstGeom>
          <a:solidFill>
            <a:srgbClr val="007F60"/>
          </a:solidFill>
          <a:ln w="12700">
            <a:solidFill>
              <a:srgbClr val="007F60"/>
            </a:solidFill>
            <a:prstDash val="solid"/>
          </a:ln>
        </p:spPr>
      </p:sp>
      <p:sp>
        <p:nvSpPr>
          <p:cNvPr id="16" name="Text 14"/>
          <p:cNvSpPr/>
          <p:nvPr/>
        </p:nvSpPr>
        <p:spPr>
          <a:xfrm>
            <a:off x="704088" y="3364992"/>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Good marks + incomplete LMS</a:t>
            </a:r>
            <a:endParaRPr lang="en-US" sz="1800" dirty="0"/>
          </a:p>
        </p:txBody>
      </p:sp>
      <p:sp>
        <p:nvSpPr>
          <p:cNvPr id="17" name="Text 15"/>
          <p:cNvSpPr/>
          <p:nvPr/>
        </p:nvSpPr>
        <p:spPr>
          <a:xfrm>
            <a:off x="704088" y="3831336"/>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Check pending learning tasks and submission evidence.</a:t>
            </a:r>
            <a:endParaRPr lang="en-US" sz="1600" dirty="0"/>
          </a:p>
        </p:txBody>
      </p:sp>
      <p:sp>
        <p:nvSpPr>
          <p:cNvPr id="18" name="Shape 16"/>
          <p:cNvSpPr/>
          <p:nvPr/>
        </p:nvSpPr>
        <p:spPr>
          <a:xfrm>
            <a:off x="6172200" y="3227832"/>
            <a:ext cx="5440680" cy="1143000"/>
          </a:xfrm>
          <a:prstGeom prst="rect">
            <a:avLst/>
          </a:prstGeom>
          <a:solidFill>
            <a:srgbClr val="FFFFFF"/>
          </a:solidFill>
          <a:ln w="12700">
            <a:solidFill>
              <a:srgbClr val="FFFFFF"/>
            </a:solidFill>
            <a:prstDash val="solid"/>
          </a:ln>
        </p:spPr>
      </p:sp>
      <p:sp>
        <p:nvSpPr>
          <p:cNvPr id="19" name="Shape 17"/>
          <p:cNvSpPr/>
          <p:nvPr/>
        </p:nvSpPr>
        <p:spPr>
          <a:xfrm>
            <a:off x="6172200" y="3227832"/>
            <a:ext cx="64008" cy="1143000"/>
          </a:xfrm>
          <a:prstGeom prst="rect">
            <a:avLst/>
          </a:prstGeom>
          <a:solidFill>
            <a:srgbClr val="007F60"/>
          </a:solidFill>
          <a:ln w="12700">
            <a:solidFill>
              <a:srgbClr val="007F60"/>
            </a:solidFill>
            <a:prstDash val="solid"/>
          </a:ln>
        </p:spPr>
      </p:sp>
      <p:sp>
        <p:nvSpPr>
          <p:cNvPr id="20" name="Text 18"/>
          <p:cNvSpPr/>
          <p:nvPr/>
        </p:nvSpPr>
        <p:spPr>
          <a:xfrm>
            <a:off x="6373368" y="3364992"/>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Strong coding + weak aptitude</a:t>
            </a:r>
            <a:endParaRPr lang="en-US" sz="1800" dirty="0"/>
          </a:p>
        </p:txBody>
      </p:sp>
      <p:sp>
        <p:nvSpPr>
          <p:cNvPr id="21" name="Text 19"/>
          <p:cNvSpPr/>
          <p:nvPr/>
        </p:nvSpPr>
        <p:spPr>
          <a:xfrm>
            <a:off x="6373368" y="3831336"/>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Target quantitative-reasoning practice.</a:t>
            </a:r>
            <a:endParaRPr lang="en-US" sz="1600" dirty="0"/>
          </a:p>
        </p:txBody>
      </p:sp>
      <p:sp>
        <p:nvSpPr>
          <p:cNvPr id="22" name="Shape 20"/>
          <p:cNvSpPr/>
          <p:nvPr/>
        </p:nvSpPr>
        <p:spPr>
          <a:xfrm>
            <a:off x="502920" y="4581144"/>
            <a:ext cx="5440680" cy="1143000"/>
          </a:xfrm>
          <a:prstGeom prst="rect">
            <a:avLst/>
          </a:prstGeom>
          <a:solidFill>
            <a:srgbClr val="FFFFFF"/>
          </a:solidFill>
          <a:ln w="12700">
            <a:solidFill>
              <a:srgbClr val="FFFFFF"/>
            </a:solidFill>
            <a:prstDash val="solid"/>
          </a:ln>
        </p:spPr>
      </p:sp>
      <p:sp>
        <p:nvSpPr>
          <p:cNvPr id="23" name="Shape 21"/>
          <p:cNvSpPr/>
          <p:nvPr/>
        </p:nvSpPr>
        <p:spPr>
          <a:xfrm>
            <a:off x="502920" y="4581144"/>
            <a:ext cx="64008" cy="1143000"/>
          </a:xfrm>
          <a:prstGeom prst="rect">
            <a:avLst/>
          </a:prstGeom>
          <a:solidFill>
            <a:srgbClr val="007F60"/>
          </a:solidFill>
          <a:ln w="12700">
            <a:solidFill>
              <a:srgbClr val="007F60"/>
            </a:solidFill>
            <a:prstDash val="solid"/>
          </a:ln>
        </p:spPr>
      </p:sp>
      <p:sp>
        <p:nvSpPr>
          <p:cNvPr id="24" name="Text 22"/>
          <p:cNvSpPr/>
          <p:nvPr/>
        </p:nvSpPr>
        <p:spPr>
          <a:xfrm>
            <a:off x="704088" y="4718304"/>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High CGPA + low placement readiness</a:t>
            </a:r>
            <a:endParaRPr lang="en-US" sz="1800" dirty="0"/>
          </a:p>
        </p:txBody>
      </p:sp>
      <p:sp>
        <p:nvSpPr>
          <p:cNvPr id="25" name="Text 23"/>
          <p:cNvSpPr/>
          <p:nvPr/>
        </p:nvSpPr>
        <p:spPr>
          <a:xfrm>
            <a:off x="704088" y="5184648"/>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Resume, assessment and mock-interview support.</a:t>
            </a:r>
            <a:endParaRPr lang="en-US" sz="1600" dirty="0"/>
          </a:p>
        </p:txBody>
      </p:sp>
      <p:sp>
        <p:nvSpPr>
          <p:cNvPr id="26" name="Shape 24"/>
          <p:cNvSpPr/>
          <p:nvPr/>
        </p:nvSpPr>
        <p:spPr>
          <a:xfrm>
            <a:off x="6172200" y="4581144"/>
            <a:ext cx="5440680" cy="1143000"/>
          </a:xfrm>
          <a:prstGeom prst="rect">
            <a:avLst/>
          </a:prstGeom>
          <a:solidFill>
            <a:srgbClr val="FFFFFF"/>
          </a:solidFill>
          <a:ln w="12700">
            <a:solidFill>
              <a:srgbClr val="FFFFFF"/>
            </a:solidFill>
            <a:prstDash val="solid"/>
          </a:ln>
        </p:spPr>
      </p:sp>
      <p:sp>
        <p:nvSpPr>
          <p:cNvPr id="27" name="Shape 25"/>
          <p:cNvSpPr/>
          <p:nvPr/>
        </p:nvSpPr>
        <p:spPr>
          <a:xfrm>
            <a:off x="6172200" y="4581144"/>
            <a:ext cx="64008" cy="1143000"/>
          </a:xfrm>
          <a:prstGeom prst="rect">
            <a:avLst/>
          </a:prstGeom>
          <a:solidFill>
            <a:srgbClr val="007F60"/>
          </a:solidFill>
          <a:ln w="12700">
            <a:solidFill>
              <a:srgbClr val="007F60"/>
            </a:solidFill>
            <a:prstDash val="solid"/>
          </a:ln>
        </p:spPr>
      </p:sp>
      <p:sp>
        <p:nvSpPr>
          <p:cNvPr id="28" name="Text 26"/>
          <p:cNvSpPr/>
          <p:nvPr/>
        </p:nvSpPr>
        <p:spPr>
          <a:xfrm>
            <a:off x="6373368" y="4718304"/>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Multiple simultaneous signals</a:t>
            </a:r>
            <a:endParaRPr lang="en-US" sz="1800" dirty="0"/>
          </a:p>
        </p:txBody>
      </p:sp>
      <p:sp>
        <p:nvSpPr>
          <p:cNvPr id="29" name="Text 27"/>
          <p:cNvSpPr/>
          <p:nvPr/>
        </p:nvSpPr>
        <p:spPr>
          <a:xfrm>
            <a:off x="6373368" y="5184648"/>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Prioritize mentor review across sources.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Faculty: filter both risks, then open the evidence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26</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faculty-full.png">    </p:cNvPr>
          <p:cNvPicPr>
            <a:picLocks noChangeAspect="1"/>
          </p:cNvPicPr>
          <p:nvPr/>
        </p:nvPicPr>
        <p:blipFill>
          <a:blip r:embed="rId1"/>
          <a:stretch>
            <a:fillRect/>
          </a:stretch>
        </p:blipFill>
        <p:spPr>
          <a:xfrm>
            <a:off x="851499" y="1874520"/>
            <a:ext cx="6709483"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Cohort overview</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Assigned count, class mean/median, declining profiles and open interventions.</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Search &amp; dual filters</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Search name/ID; filter the overall band and each flag independently.</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Compare &amp; intervene</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Select up to three students, drill into profiles or create a support action.</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Demo cohort access is illustrative; private mentor assignment must be enforced server-side.</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COMPARISON PATTERN</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Faculty comparison: label the baseline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27</a:t>
            </a:r>
            <a:endParaRPr lang="en-US" sz="1100" dirty="0"/>
          </a:p>
        </p:txBody>
      </p:sp>
      <p:sp>
        <p:nvSpPr>
          <p:cNvPr id="6" name="Shape 4"/>
          <p:cNvSpPr/>
          <p:nvPr/>
        </p:nvSpPr>
        <p:spPr>
          <a:xfrm>
            <a:off x="502920" y="1874520"/>
            <a:ext cx="7223760" cy="4206240"/>
          </a:xfrm>
          <a:prstGeom prst="rect">
            <a:avLst/>
          </a:prstGeom>
          <a:solidFill>
            <a:srgbClr val="FFFFFF"/>
          </a:solidFill>
          <a:ln w="12700">
            <a:solidFill>
              <a:srgbClr val="FFFFFF"/>
            </a:solidFill>
            <a:prstDash val="solid"/>
          </a:ln>
        </p:spPr>
      </p:sp>
      <p:pic>
        <p:nvPicPr>
          <p:cNvPr id="7" name="Image 0" descr="compare-detail.png">    </p:cNvPr>
          <p:cNvPicPr>
            <a:picLocks noChangeAspect="1"/>
          </p:cNvPicPr>
          <p:nvPr/>
        </p:nvPicPr>
        <p:blipFill>
          <a:blip r:embed="rId1"/>
          <a:stretch>
            <a:fillRect/>
          </a:stretch>
        </p:blipFill>
        <p:spPr>
          <a:xfrm>
            <a:off x="640080" y="2710815"/>
            <a:ext cx="6949440" cy="2533650"/>
          </a:xfrm>
          <a:prstGeom prst="rect">
            <a:avLst/>
          </a:prstGeom>
        </p:spPr>
      </p:pic>
      <p:sp>
        <p:nvSpPr>
          <p:cNvPr id="8" name="Shape 5"/>
          <p:cNvSpPr/>
          <p:nvPr/>
        </p:nvSpPr>
        <p:spPr>
          <a:xfrm>
            <a:off x="8092440" y="1874520"/>
            <a:ext cx="3611880" cy="1965960"/>
          </a:xfrm>
          <a:prstGeom prst="rect">
            <a:avLst/>
          </a:prstGeom>
          <a:solidFill>
            <a:srgbClr val="FFFFFF"/>
          </a:solidFill>
          <a:ln w="12700">
            <a:solidFill>
              <a:srgbClr val="FFFFFF"/>
            </a:solidFill>
            <a:prstDash val="solid"/>
          </a:ln>
        </p:spPr>
      </p:sp>
      <p:sp>
        <p:nvSpPr>
          <p:cNvPr id="9" name="Shape 6"/>
          <p:cNvSpPr/>
          <p:nvPr/>
        </p:nvSpPr>
        <p:spPr>
          <a:xfrm>
            <a:off x="8092440" y="1874520"/>
            <a:ext cx="64008" cy="1965960"/>
          </a:xfrm>
          <a:prstGeom prst="rect">
            <a:avLst/>
          </a:prstGeom>
          <a:solidFill>
            <a:srgbClr val="007F60"/>
          </a:solidFill>
          <a:ln w="12700">
            <a:solidFill>
              <a:srgbClr val="007F60"/>
            </a:solidFill>
            <a:prstDash val="solid"/>
          </a:ln>
        </p:spPr>
      </p:sp>
      <p:sp>
        <p:nvSpPr>
          <p:cNvPr id="10" name="Text 7"/>
          <p:cNvSpPr/>
          <p:nvPr/>
        </p:nvSpPr>
        <p:spPr>
          <a:xfrm>
            <a:off x="8293608" y="2011680"/>
            <a:ext cx="322783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What is implemented</a:t>
            </a:r>
            <a:endParaRPr lang="en-US" sz="2100" dirty="0"/>
          </a:p>
        </p:txBody>
      </p:sp>
      <p:sp>
        <p:nvSpPr>
          <p:cNvPr id="11" name="Text 8"/>
          <p:cNvSpPr/>
          <p:nvPr/>
        </p:nvSpPr>
        <p:spPr>
          <a:xfrm>
            <a:off x="8293608" y="2852928"/>
            <a:ext cx="3209544" cy="86868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Compare up to three students across score, attendance, skills and subject strengths.</a:t>
            </a:r>
            <a:endParaRPr lang="en-US" sz="1800" dirty="0"/>
          </a:p>
        </p:txBody>
      </p:sp>
      <p:sp>
        <p:nvSpPr>
          <p:cNvPr id="12" name="Shape 9"/>
          <p:cNvSpPr/>
          <p:nvPr/>
        </p:nvSpPr>
        <p:spPr>
          <a:xfrm>
            <a:off x="8092440" y="4114800"/>
            <a:ext cx="3611880" cy="1965960"/>
          </a:xfrm>
          <a:prstGeom prst="rect">
            <a:avLst/>
          </a:prstGeom>
          <a:solidFill>
            <a:srgbClr val="FFFFFF"/>
          </a:solidFill>
          <a:ln w="12700">
            <a:solidFill>
              <a:srgbClr val="FFFFFF"/>
            </a:solidFill>
            <a:prstDash val="solid"/>
          </a:ln>
        </p:spPr>
      </p:sp>
      <p:sp>
        <p:nvSpPr>
          <p:cNvPr id="13" name="Shape 10"/>
          <p:cNvSpPr/>
          <p:nvPr/>
        </p:nvSpPr>
        <p:spPr>
          <a:xfrm>
            <a:off x="8092440" y="4114800"/>
            <a:ext cx="64008" cy="1965960"/>
          </a:xfrm>
          <a:prstGeom prst="rect">
            <a:avLst/>
          </a:prstGeom>
          <a:solidFill>
            <a:srgbClr val="007F60"/>
          </a:solidFill>
          <a:ln w="12700">
            <a:solidFill>
              <a:srgbClr val="007F60"/>
            </a:solidFill>
            <a:prstDash val="solid"/>
          </a:ln>
        </p:spPr>
      </p:sp>
      <p:sp>
        <p:nvSpPr>
          <p:cNvPr id="14" name="Text 11"/>
          <p:cNvSpPr/>
          <p:nvPr/>
        </p:nvSpPr>
        <p:spPr>
          <a:xfrm>
            <a:off x="8293608" y="4251960"/>
            <a:ext cx="322783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What needs more context</a:t>
            </a:r>
            <a:endParaRPr lang="en-US" sz="2100" dirty="0"/>
          </a:p>
        </p:txBody>
      </p:sp>
      <p:sp>
        <p:nvSpPr>
          <p:cNvPr id="15" name="Text 12"/>
          <p:cNvSpPr/>
          <p:nvPr/>
        </p:nvSpPr>
        <p:spPr>
          <a:xfrm>
            <a:off x="8293608" y="5093208"/>
            <a:ext cx="3209544" cy="86868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Class mean/median are shown. Dates, sample sizes and anonymous peer modes need expansion.</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ACTION WORKFLOW</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Mentor intervention: turn a flag into ownership</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28</a:t>
            </a:r>
            <a:endParaRPr lang="en-US" sz="1100" dirty="0"/>
          </a:p>
        </p:txBody>
      </p:sp>
      <p:pic>
        <p:nvPicPr>
          <p:cNvPr id="6" name="Image 0" descr="intervention.png">    </p:cNvPr>
          <p:cNvPicPr>
            <a:picLocks noChangeAspect="1"/>
          </p:cNvPicPr>
          <p:nvPr/>
        </p:nvPicPr>
        <p:blipFill>
          <a:blip r:embed="rId1"/>
          <a:stretch>
            <a:fillRect/>
          </a:stretch>
        </p:blipFill>
        <p:spPr>
          <a:xfrm>
            <a:off x="502920" y="2464186"/>
            <a:ext cx="4983480" cy="2981189"/>
          </a:xfrm>
          <a:prstGeom prst="rect">
            <a:avLst/>
          </a:prstGeom>
        </p:spPr>
      </p:pic>
      <p:sp>
        <p:nvSpPr>
          <p:cNvPr id="7" name="Shape 4"/>
          <p:cNvSpPr/>
          <p:nvPr/>
        </p:nvSpPr>
        <p:spPr>
          <a:xfrm>
            <a:off x="5897880" y="1874520"/>
            <a:ext cx="5806440" cy="1143000"/>
          </a:xfrm>
          <a:prstGeom prst="rect">
            <a:avLst/>
          </a:prstGeom>
          <a:solidFill>
            <a:srgbClr val="FFFFFF"/>
          </a:solidFill>
          <a:ln w="12700">
            <a:solidFill>
              <a:srgbClr val="FFFFFF"/>
            </a:solidFill>
            <a:prstDash val="solid"/>
          </a:ln>
        </p:spPr>
      </p:sp>
      <p:sp>
        <p:nvSpPr>
          <p:cNvPr id="8" name="Shape 5"/>
          <p:cNvSpPr/>
          <p:nvPr/>
        </p:nvSpPr>
        <p:spPr>
          <a:xfrm>
            <a:off x="5897880" y="1874520"/>
            <a:ext cx="64008" cy="1143000"/>
          </a:xfrm>
          <a:prstGeom prst="rect">
            <a:avLst/>
          </a:prstGeom>
          <a:solidFill>
            <a:srgbClr val="007F60"/>
          </a:solidFill>
          <a:ln w="12700">
            <a:solidFill>
              <a:srgbClr val="007F60"/>
            </a:solidFill>
            <a:prstDash val="solid"/>
          </a:ln>
        </p:spPr>
      </p:sp>
      <p:sp>
        <p:nvSpPr>
          <p:cNvPr id="9" name="Text 6"/>
          <p:cNvSpPr/>
          <p:nvPr/>
        </p:nvSpPr>
        <p:spPr>
          <a:xfrm>
            <a:off x="6099048" y="2011680"/>
            <a:ext cx="542239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1  Record evidence</a:t>
            </a:r>
            <a:endParaRPr lang="en-US" sz="1800" dirty="0"/>
          </a:p>
        </p:txBody>
      </p:sp>
      <p:sp>
        <p:nvSpPr>
          <p:cNvPr id="10" name="Text 7"/>
          <p:cNvSpPr/>
          <p:nvPr/>
        </p:nvSpPr>
        <p:spPr>
          <a:xfrm>
            <a:off x="6099048" y="2478024"/>
            <a:ext cx="540410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Reason, proposed action and priority.</a:t>
            </a:r>
            <a:endParaRPr lang="en-US" sz="1600" dirty="0"/>
          </a:p>
        </p:txBody>
      </p:sp>
      <p:sp>
        <p:nvSpPr>
          <p:cNvPr id="11" name="Shape 8"/>
          <p:cNvSpPr/>
          <p:nvPr/>
        </p:nvSpPr>
        <p:spPr>
          <a:xfrm>
            <a:off x="5897880" y="3227832"/>
            <a:ext cx="5806440" cy="1143000"/>
          </a:xfrm>
          <a:prstGeom prst="rect">
            <a:avLst/>
          </a:prstGeom>
          <a:solidFill>
            <a:srgbClr val="FFFFFF"/>
          </a:solidFill>
          <a:ln w="12700">
            <a:solidFill>
              <a:srgbClr val="FFFFFF"/>
            </a:solidFill>
            <a:prstDash val="solid"/>
          </a:ln>
        </p:spPr>
      </p:sp>
      <p:sp>
        <p:nvSpPr>
          <p:cNvPr id="12" name="Shape 9"/>
          <p:cNvSpPr/>
          <p:nvPr/>
        </p:nvSpPr>
        <p:spPr>
          <a:xfrm>
            <a:off x="5897880" y="3227832"/>
            <a:ext cx="64008" cy="1143000"/>
          </a:xfrm>
          <a:prstGeom prst="rect">
            <a:avLst/>
          </a:prstGeom>
          <a:solidFill>
            <a:srgbClr val="007F60"/>
          </a:solidFill>
          <a:ln w="12700">
            <a:solidFill>
              <a:srgbClr val="007F60"/>
            </a:solidFill>
            <a:prstDash val="solid"/>
          </a:ln>
        </p:spPr>
      </p:sp>
      <p:sp>
        <p:nvSpPr>
          <p:cNvPr id="13" name="Text 10"/>
          <p:cNvSpPr/>
          <p:nvPr/>
        </p:nvSpPr>
        <p:spPr>
          <a:xfrm>
            <a:off x="6099048" y="3364992"/>
            <a:ext cx="542239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2  Assign follow-up</a:t>
            </a:r>
            <a:endParaRPr lang="en-US" sz="1800" dirty="0"/>
          </a:p>
        </p:txBody>
      </p:sp>
      <p:sp>
        <p:nvSpPr>
          <p:cNvPr id="14" name="Text 11"/>
          <p:cNvSpPr/>
          <p:nvPr/>
        </p:nvSpPr>
        <p:spPr>
          <a:xfrm>
            <a:off x="6099048" y="3831336"/>
            <a:ext cx="540410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Owner and follow-up date make the plan reviewable.</a:t>
            </a:r>
            <a:endParaRPr lang="en-US" sz="1600" dirty="0"/>
          </a:p>
        </p:txBody>
      </p:sp>
      <p:sp>
        <p:nvSpPr>
          <p:cNvPr id="15" name="Shape 12"/>
          <p:cNvSpPr/>
          <p:nvPr/>
        </p:nvSpPr>
        <p:spPr>
          <a:xfrm>
            <a:off x="5897880" y="4581144"/>
            <a:ext cx="5806440" cy="1143000"/>
          </a:xfrm>
          <a:prstGeom prst="rect">
            <a:avLst/>
          </a:prstGeom>
          <a:solidFill>
            <a:srgbClr val="FFFFFF"/>
          </a:solidFill>
          <a:ln w="12700">
            <a:solidFill>
              <a:srgbClr val="FFFFFF"/>
            </a:solidFill>
            <a:prstDash val="solid"/>
          </a:ln>
        </p:spPr>
      </p:sp>
      <p:sp>
        <p:nvSpPr>
          <p:cNvPr id="16" name="Shape 13"/>
          <p:cNvSpPr/>
          <p:nvPr/>
        </p:nvSpPr>
        <p:spPr>
          <a:xfrm>
            <a:off x="5897880" y="4581144"/>
            <a:ext cx="64008" cy="1143000"/>
          </a:xfrm>
          <a:prstGeom prst="rect">
            <a:avLst/>
          </a:prstGeom>
          <a:solidFill>
            <a:srgbClr val="007F60"/>
          </a:solidFill>
          <a:ln w="12700">
            <a:solidFill>
              <a:srgbClr val="007F60"/>
            </a:solidFill>
            <a:prstDash val="solid"/>
          </a:ln>
        </p:spPr>
      </p:sp>
      <p:sp>
        <p:nvSpPr>
          <p:cNvPr id="17" name="Text 14"/>
          <p:cNvSpPr/>
          <p:nvPr/>
        </p:nvSpPr>
        <p:spPr>
          <a:xfrm>
            <a:off x="6099048" y="4718304"/>
            <a:ext cx="542239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3  Track state</a:t>
            </a:r>
            <a:endParaRPr lang="en-US" sz="1800" dirty="0"/>
          </a:p>
        </p:txBody>
      </p:sp>
      <p:sp>
        <p:nvSpPr>
          <p:cNvPr id="18" name="Text 15"/>
          <p:cNvSpPr/>
          <p:nvPr/>
        </p:nvSpPr>
        <p:spPr>
          <a:xfrm>
            <a:off x="6099048" y="5184648"/>
            <a:ext cx="540410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Open → in-progress → resolved. Demo changes persist in this browser.</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Administrator: patterns at campus scale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29</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admin-full.png">    </p:cNvPr>
          <p:cNvPicPr>
            <a:picLocks noChangeAspect="1"/>
          </p:cNvPicPr>
          <p:nvPr/>
        </p:nvPicPr>
        <p:blipFill>
          <a:blip r:embed="rId1"/>
          <a:stretch>
            <a:fillRect/>
          </a:stretch>
        </p:blipFill>
        <p:spPr>
          <a:xfrm>
            <a:off x="1661823" y="1874520"/>
            <a:ext cx="5088835"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Shared campus metrics</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Mean Success Score, CGPA, attendance, LMS and readiness.</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Two flag distributions</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Academic: 193 Low / 49 Medium / 58 High. Placement: 189 / 42 / 69.</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Branch × flag heatmap</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Counts of Medium/High flags support branch-level review, alongside branch size.</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Heatmap values are counts, not rates; compare with each branch’s student count.</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FEATURE WALKTHROUGH</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Operations: inspect coverage, validate, then import</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30</a:t>
            </a:r>
            <a:endParaRPr lang="en-US" sz="1100" dirty="0"/>
          </a:p>
        </p:txBody>
      </p:sp>
      <p:sp>
        <p:nvSpPr>
          <p:cNvPr id="6" name="Shape 4"/>
          <p:cNvSpPr/>
          <p:nvPr/>
        </p:nvSpPr>
        <p:spPr>
          <a:xfrm>
            <a:off x="502920" y="1783080"/>
            <a:ext cx="7406640" cy="4297680"/>
          </a:xfrm>
          <a:prstGeom prst="rect">
            <a:avLst/>
          </a:prstGeom>
          <a:solidFill>
            <a:srgbClr val="FFFFFF"/>
          </a:solidFill>
          <a:ln w="12700">
            <a:solidFill>
              <a:srgbClr val="FFFFFF"/>
            </a:solidFill>
            <a:prstDash val="solid"/>
          </a:ln>
        </p:spPr>
      </p:sp>
      <p:pic>
        <p:nvPicPr>
          <p:cNvPr id="7" name="Image 0" descr="data-full.png">    </p:cNvPr>
          <p:cNvPicPr>
            <a:picLocks noChangeAspect="1"/>
          </p:cNvPicPr>
          <p:nvPr/>
        </p:nvPicPr>
        <p:blipFill>
          <a:blip r:embed="rId1"/>
          <a:stretch>
            <a:fillRect/>
          </a:stretch>
        </p:blipFill>
        <p:spPr>
          <a:xfrm>
            <a:off x="1052381" y="1874520"/>
            <a:ext cx="6307717" cy="4114800"/>
          </a:xfrm>
          <a:prstGeom prst="rect">
            <a:avLst/>
          </a:prstGeom>
        </p:spPr>
      </p:pic>
      <p:sp>
        <p:nvSpPr>
          <p:cNvPr id="8" name="Text 5"/>
          <p:cNvSpPr/>
          <p:nvPr/>
        </p:nvSpPr>
        <p:spPr>
          <a:xfrm>
            <a:off x="8229600" y="182880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Source visibility</a:t>
            </a:r>
            <a:endParaRPr lang="en-US" sz="1800" dirty="0"/>
          </a:p>
        </p:txBody>
      </p:sp>
      <p:sp>
        <p:nvSpPr>
          <p:cNvPr id="9" name="Text 6"/>
          <p:cNvSpPr/>
          <p:nvPr/>
        </p:nvSpPr>
        <p:spPr>
          <a:xfrm>
            <a:off x="8229600" y="242316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Seven source-coverage tiles and missing-component totals.</a:t>
            </a:r>
            <a:endParaRPr lang="en-US" sz="1600" dirty="0"/>
          </a:p>
        </p:txBody>
      </p:sp>
      <p:sp>
        <p:nvSpPr>
          <p:cNvPr id="10" name="Text 7"/>
          <p:cNvSpPr/>
          <p:nvPr/>
        </p:nvSpPr>
        <p:spPr>
          <a:xfrm>
            <a:off x="8229600" y="329184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Unified CSV &amp; manual entry</a:t>
            </a:r>
            <a:endParaRPr lang="en-US" sz="1800" dirty="0"/>
          </a:p>
        </p:txBody>
      </p:sp>
      <p:sp>
        <p:nvSpPr>
          <p:cNvPr id="11" name="Text 8"/>
          <p:cNvSpPr/>
          <p:nvPr/>
        </p:nvSpPr>
        <p:spPr>
          <a:xfrm>
            <a:off x="8229600" y="388620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Preview, validation, duplicate reporting and a basic student-entry form.</a:t>
            </a:r>
            <a:endParaRPr lang="en-US" sz="1600" dirty="0"/>
          </a:p>
        </p:txBody>
      </p:sp>
      <p:sp>
        <p:nvSpPr>
          <p:cNvPr id="12" name="Text 9"/>
          <p:cNvSpPr/>
          <p:nvPr/>
        </p:nvSpPr>
        <p:spPr>
          <a:xfrm>
            <a:off x="8229600" y="4754880"/>
            <a:ext cx="3337560" cy="548640"/>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Review surfaces</a:t>
            </a:r>
            <a:endParaRPr lang="en-US" sz="1800" dirty="0"/>
          </a:p>
        </p:txBody>
      </p:sp>
      <p:sp>
        <p:nvSpPr>
          <p:cNvPr id="13" name="Text 10"/>
          <p:cNvSpPr/>
          <p:nvPr/>
        </p:nvSpPr>
        <p:spPr>
          <a:xfrm>
            <a:off x="8229600" y="5349240"/>
            <a:ext cx="3337560" cy="868680"/>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Import log/counts and admin-only complaint review. Demo state stays local.</a:t>
            </a:r>
            <a:endParaRPr lang="en-US" sz="1600" dirty="0"/>
          </a:p>
        </p:txBody>
      </p:sp>
      <p:sp>
        <p:nvSpPr>
          <p:cNvPr id="14" name="Text 11"/>
          <p:cNvSpPr/>
          <p:nvPr/>
        </p:nvSpPr>
        <p:spPr>
          <a:xfrm>
            <a:off x="594360" y="6291072"/>
            <a:ext cx="1088136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The manual-entry form is implemented; live ingestion of seven separate raw feeds is a different requirement.</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MODEL &amp; REQUIREMENTS</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Requirements followed: core analytics and demo</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31</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4389120"/>
        </p:xfrm>
        <a:graphic>
          <a:graphicData uri="http://schemas.openxmlformats.org/drawingml/2006/table">
            <a:tbl>
              <a:tblPr/>
              <a:tblGrid>
                <a:gridCol w="3063240"/>
                <a:gridCol w="3749040"/>
                <a:gridCol w="4343400"/>
              </a:tblGrid>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Requirement</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Current evidence</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Scope / remaining limitation</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Seven-source unified identity</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300-student seed; shared ID</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Offline prepared data; no live campus feed</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Explainable score &amp; missing handling</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Components, weights, data gaps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Admin policy versioning not verified</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Separate Academic / Placement Risk</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Rules, points, sorted drivers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Dates/provenance need expansion</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Three linked dashboards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Student, faculty, admin screenshots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Private role E2E not verified</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CSV + manual student entry</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Data page; preview/validation</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Unified input, not seven-feed ingestion</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Intervention create/status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Faculty form and local state</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Private persistence needs E2E checks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MODEL &amp; REQUIREMENTS</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Requirements followed: student feature depth</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32</a:t>
            </a:r>
            <a:endParaRPr lang="en-US" sz="11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55680" cy="4389120"/>
        </p:xfrm>
        <a:graphic>
          <a:graphicData uri="http://schemas.openxmlformats.org/drawingml/2006/table">
            <a:tbl>
              <a:tblPr/>
              <a:tblGrid>
                <a:gridCol w="2834640"/>
                <a:gridCol w="4069080"/>
                <a:gridCol w="4251960"/>
              </a:tblGrid>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Area</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Available feature</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Not established by the demo</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Academics &amp; attendance</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Marks, trends, backlogs, target planner</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Full exam/timetable &amp; audited corrections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LMS &amp; tasks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Completion, unit/task/resource UI</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Real uploads, submissions, live activity</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Skills &amp; placement</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Skill cards, practice UI, eligibility</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Live scored attempts, real recruiter feeds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Engagement &amp; support</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Opportunities, feedback, complaint entry</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Real evidence approval and outcomes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Comparison &amp; fairness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Faculty metric comparison; role demo guards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Dated aggregate peer modes, full policy QA</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r h="484632">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Notifications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Evidence-based in-app demo alerts</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c>
                  <a:txBody>
                    <a:bodyPr/>
                    <a:lstStyle/>
                    <a:p>
                      <a:pPr indent="0" marL="0">
                        <a:buNone/>
                      </a:pPr>
                      <a:r>
                        <a:rPr lang="en-US" sz="1700" dirty="0">
                          <a:solidFill>
                            <a:srgbClr val="123A32"/>
                          </a:solidFill>
                          <a:latin typeface="Calibri" pitchFamily="34" charset="0"/>
                          <a:ea typeface="Calibri" pitchFamily="34" charset="-122"/>
                          <a:cs typeface="Calibri" pitchFamily="34" charset="-120"/>
                        </a:rPr>
                        <a:t>Scheduled email/push delivery</a:t>
                      </a:r>
                      <a:endParaRPr lang="en-US" sz="1700" dirty="0">
                        <a:latin typeface="Calibri" charset="0"/>
                        <a:ea typeface="Calibri" charset="0"/>
                        <a:cs typeface="Calibri" charset="0"/>
                      </a:endParaRPr>
                    </a:p>
                  </a:txBody>
                  <a:tcPr marL="118872" marR="118872" marT="118872" marB="118872">
                    <a:lnL w="6350" cap="flat" cmpd="sng" algn="ctr">
                      <a:solidFill>
                        <a:srgbClr val="D5E4DC"/>
                      </a:solidFill>
                      <a:prstDash val="solid"/>
                      <a:round/>
                      <a:headEnd type="none" w="med" len="med"/>
                      <a:tailEnd type="none" w="med" len="med"/>
                    </a:lnL>
                    <a:lnR w="6350" cap="flat" cmpd="sng" algn="ctr">
                      <a:solidFill>
                        <a:srgbClr val="D5E4DC"/>
                      </a:solidFill>
                      <a:prstDash val="solid"/>
                      <a:round/>
                      <a:headEnd type="none" w="med" len="med"/>
                      <a:tailEnd type="none" w="med" len="med"/>
                    </a:lnR>
                    <a:lnT w="6350" cap="flat" cmpd="sng" algn="ctr">
                      <a:solidFill>
                        <a:srgbClr val="D5E4DC"/>
                      </a:solidFill>
                      <a:prstDash val="solid"/>
                      <a:round/>
                      <a:headEnd type="none" w="med" len="med"/>
                      <a:tailEnd type="none" w="med" len="med"/>
                    </a:lnT>
                    <a:lnB w="6350" cap="flat" cmpd="sng" algn="ctr">
                      <a:solidFill>
                        <a:srgbClr val="D5E4D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TECHNICAL OVERVIEW</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Architecture: two data paths with different promises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33</a:t>
            </a:r>
            <a:endParaRPr lang="en-US" sz="1100" dirty="0"/>
          </a:p>
        </p:txBody>
      </p:sp>
      <p:sp>
        <p:nvSpPr>
          <p:cNvPr id="6" name="Shape 4"/>
          <p:cNvSpPr/>
          <p:nvPr/>
        </p:nvSpPr>
        <p:spPr>
          <a:xfrm>
            <a:off x="502920" y="1874520"/>
            <a:ext cx="5394960" cy="3246120"/>
          </a:xfrm>
          <a:prstGeom prst="rect">
            <a:avLst/>
          </a:prstGeom>
          <a:solidFill>
            <a:srgbClr val="FFFFFF"/>
          </a:solidFill>
          <a:ln w="12700">
            <a:solidFill>
              <a:srgbClr val="FFFFFF"/>
            </a:solidFill>
            <a:prstDash val="solid"/>
          </a:ln>
        </p:spPr>
      </p:sp>
      <p:sp>
        <p:nvSpPr>
          <p:cNvPr id="7" name="Shape 5"/>
          <p:cNvSpPr/>
          <p:nvPr/>
        </p:nvSpPr>
        <p:spPr>
          <a:xfrm>
            <a:off x="502920" y="1874520"/>
            <a:ext cx="64008" cy="3246120"/>
          </a:xfrm>
          <a:prstGeom prst="rect">
            <a:avLst/>
          </a:prstGeom>
          <a:solidFill>
            <a:srgbClr val="007F60"/>
          </a:solidFill>
          <a:ln w="12700">
            <a:solidFill>
              <a:srgbClr val="007F60"/>
            </a:solidFill>
            <a:prstDash val="solid"/>
          </a:ln>
        </p:spPr>
      </p:sp>
      <p:sp>
        <p:nvSpPr>
          <p:cNvPr id="8" name="Text 6"/>
          <p:cNvSpPr/>
          <p:nvPr/>
        </p:nvSpPr>
        <p:spPr>
          <a:xfrm>
            <a:off x="704088" y="2011680"/>
            <a:ext cx="501091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Public fictional workspace</a:t>
            </a:r>
            <a:endParaRPr lang="en-US" sz="2100" dirty="0"/>
          </a:p>
        </p:txBody>
      </p:sp>
      <p:sp>
        <p:nvSpPr>
          <p:cNvPr id="9" name="Text 7"/>
          <p:cNvSpPr/>
          <p:nvPr/>
        </p:nvSpPr>
        <p:spPr>
          <a:xfrm>
            <a:off x="704088" y="2852928"/>
            <a:ext cx="4992624" cy="214884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React 19 + TanStack Start</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Tailwind / shadcn/ui / Recharts</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Shared seed + local browser state</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Score and risk-rule utilities</a:t>
            </a:r>
            <a:endParaRPr lang="en-US" sz="1800" dirty="0"/>
          </a:p>
        </p:txBody>
      </p:sp>
      <p:sp>
        <p:nvSpPr>
          <p:cNvPr id="10" name="Shape 8"/>
          <p:cNvSpPr/>
          <p:nvPr/>
        </p:nvSpPr>
        <p:spPr>
          <a:xfrm>
            <a:off x="6172200" y="1874520"/>
            <a:ext cx="5532120" cy="3246120"/>
          </a:xfrm>
          <a:prstGeom prst="rect">
            <a:avLst/>
          </a:prstGeom>
          <a:solidFill>
            <a:srgbClr val="FFFFFF"/>
          </a:solidFill>
          <a:ln w="12700">
            <a:solidFill>
              <a:srgbClr val="FFFFFF"/>
            </a:solidFill>
            <a:prstDash val="solid"/>
          </a:ln>
        </p:spPr>
      </p:sp>
      <p:sp>
        <p:nvSpPr>
          <p:cNvPr id="11" name="Shape 9"/>
          <p:cNvSpPr/>
          <p:nvPr/>
        </p:nvSpPr>
        <p:spPr>
          <a:xfrm>
            <a:off x="6172200" y="1874520"/>
            <a:ext cx="64008" cy="3246120"/>
          </a:xfrm>
          <a:prstGeom prst="rect">
            <a:avLst/>
          </a:prstGeom>
          <a:solidFill>
            <a:srgbClr val="007F60"/>
          </a:solidFill>
          <a:ln w="12700">
            <a:solidFill>
              <a:srgbClr val="007F60"/>
            </a:solidFill>
            <a:prstDash val="solid"/>
          </a:ln>
        </p:spPr>
      </p:sp>
      <p:sp>
        <p:nvSpPr>
          <p:cNvPr id="12" name="Text 10"/>
          <p:cNvSpPr/>
          <p:nvPr/>
        </p:nvSpPr>
        <p:spPr>
          <a:xfrm>
            <a:off x="6373368" y="2011680"/>
            <a:ext cx="514807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Authenticated portal foundations</a:t>
            </a:r>
            <a:endParaRPr lang="en-US" sz="2100" dirty="0"/>
          </a:p>
        </p:txBody>
      </p:sp>
      <p:sp>
        <p:nvSpPr>
          <p:cNvPr id="13" name="Text 11"/>
          <p:cNvSpPr/>
          <p:nvPr/>
        </p:nvSpPr>
        <p:spPr>
          <a:xfrm>
            <a:off x="6373368" y="2852928"/>
            <a:ext cx="5129784" cy="214884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Server-side account and role checks</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PostgreSQL-backed record operations</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Assigned/private portal routes</a:t>
            </a:r>
            <a:endParaRPr lang="en-US" sz="1800" dirty="0"/>
          </a:p>
          <a:p>
            <a:pPr indent="0" marL="0">
              <a:buNone/>
            </a:pPr>
            <a:r>
              <a:rPr lang="en-US" sz="1800" dirty="0">
                <a:solidFill>
                  <a:srgbClr val="123A32"/>
                </a:solidFill>
                <a:latin typeface="Calibri" pitchFamily="34" charset="0"/>
                <a:ea typeface="Calibri" pitchFamily="34" charset="-122"/>
                <a:cs typeface="Calibri" pitchFamily="34" charset="-120"/>
              </a:rPr>
              <a:t>Server-side assistant transport</a:t>
            </a:r>
            <a:endParaRPr lang="en-US" sz="1800" dirty="0"/>
          </a:p>
        </p:txBody>
      </p:sp>
      <p:sp>
        <p:nvSpPr>
          <p:cNvPr id="14" name="Text 12"/>
          <p:cNvSpPr/>
          <p:nvPr/>
        </p:nvSpPr>
        <p:spPr>
          <a:xfrm>
            <a:off x="594360" y="5577840"/>
            <a:ext cx="10972800" cy="548640"/>
          </a:xfrm>
          <a:prstGeom prst="rect">
            <a:avLst/>
          </a:prstGeom>
          <a:noFill/>
          <a:ln/>
        </p:spPr>
        <p:txBody>
          <a:bodyPr wrap="square" lIns="0" tIns="0" rIns="0" bIns="0" rtlCol="0" anchor="t"/>
          <a:lstStyle/>
          <a:p>
            <a:pPr indent="0" marL="0">
              <a:buNone/>
            </a:pPr>
            <a:r>
              <a:rPr lang="en-US" sz="2000" b="1" dirty="0">
                <a:solidFill>
                  <a:srgbClr val="007F60"/>
                </a:solidFill>
                <a:latin typeface="Trebuchet MS" pitchFamily="34" charset="0"/>
                <a:ea typeface="Trebuchet MS" pitchFamily="34" charset="-122"/>
                <a:cs typeface="Trebuchet MS" pitchFamily="34" charset="-120"/>
              </a:rPr>
              <a:t>Public demo data is inspectable. Protect real records in server/database policy—not with navigation checks alone.</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QUALITY &amp; ACCEPTANCE</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Verification: what the evidence actually proves</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34</a:t>
            </a:r>
            <a:endParaRPr lang="en-US" sz="1100" dirty="0"/>
          </a:p>
        </p:txBody>
      </p:sp>
      <p:sp>
        <p:nvSpPr>
          <p:cNvPr id="6" name="Shape 4"/>
          <p:cNvSpPr/>
          <p:nvPr/>
        </p:nvSpPr>
        <p:spPr>
          <a:xfrm>
            <a:off x="502920" y="1874520"/>
            <a:ext cx="3520440" cy="3154680"/>
          </a:xfrm>
          <a:prstGeom prst="rect">
            <a:avLst/>
          </a:prstGeom>
          <a:solidFill>
            <a:srgbClr val="FFFFFF"/>
          </a:solidFill>
          <a:ln w="12700">
            <a:solidFill>
              <a:srgbClr val="FFFFFF"/>
            </a:solidFill>
            <a:prstDash val="solid"/>
          </a:ln>
        </p:spPr>
      </p:sp>
      <p:sp>
        <p:nvSpPr>
          <p:cNvPr id="7" name="Shape 5"/>
          <p:cNvSpPr/>
          <p:nvPr/>
        </p:nvSpPr>
        <p:spPr>
          <a:xfrm>
            <a:off x="502920" y="1874520"/>
            <a:ext cx="64008" cy="3154680"/>
          </a:xfrm>
          <a:prstGeom prst="rect">
            <a:avLst/>
          </a:prstGeom>
          <a:solidFill>
            <a:srgbClr val="007F60"/>
          </a:solidFill>
          <a:ln w="12700">
            <a:solidFill>
              <a:srgbClr val="007F60"/>
            </a:solidFill>
            <a:prstDash val="solid"/>
          </a:ln>
        </p:spPr>
      </p:sp>
      <p:sp>
        <p:nvSpPr>
          <p:cNvPr id="8" name="Text 6"/>
          <p:cNvSpPr/>
          <p:nvPr/>
        </p:nvSpPr>
        <p:spPr>
          <a:xfrm>
            <a:off x="704088"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33  Tests passed</a:t>
            </a:r>
            <a:endParaRPr lang="en-US" sz="2100" dirty="0"/>
          </a:p>
        </p:txBody>
      </p:sp>
      <p:sp>
        <p:nvSpPr>
          <p:cNvPr id="9" name="Text 7"/>
          <p:cNvSpPr/>
          <p:nvPr/>
        </p:nvSpPr>
        <p:spPr>
          <a:xfrm>
            <a:off x="704088" y="2852928"/>
            <a:ext cx="3118104" cy="20574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6 test files: scoring, flags, dataset, routing and live-profile derivation.</a:t>
            </a:r>
            <a:endParaRPr lang="en-US" sz="1800" dirty="0"/>
          </a:p>
        </p:txBody>
      </p:sp>
      <p:sp>
        <p:nvSpPr>
          <p:cNvPr id="10" name="Shape 8"/>
          <p:cNvSpPr/>
          <p:nvPr/>
        </p:nvSpPr>
        <p:spPr>
          <a:xfrm>
            <a:off x="4325112" y="1874520"/>
            <a:ext cx="3520440" cy="3154680"/>
          </a:xfrm>
          <a:prstGeom prst="rect">
            <a:avLst/>
          </a:prstGeom>
          <a:solidFill>
            <a:srgbClr val="FFFFFF"/>
          </a:solidFill>
          <a:ln w="12700">
            <a:solidFill>
              <a:srgbClr val="FFFFFF"/>
            </a:solidFill>
            <a:prstDash val="solid"/>
          </a:ln>
        </p:spPr>
      </p:sp>
      <p:sp>
        <p:nvSpPr>
          <p:cNvPr id="11" name="Shape 9"/>
          <p:cNvSpPr/>
          <p:nvPr/>
        </p:nvSpPr>
        <p:spPr>
          <a:xfrm>
            <a:off x="4325112" y="1874520"/>
            <a:ext cx="64008" cy="3154680"/>
          </a:xfrm>
          <a:prstGeom prst="rect">
            <a:avLst/>
          </a:prstGeom>
          <a:solidFill>
            <a:srgbClr val="007F60"/>
          </a:solidFill>
          <a:ln w="12700">
            <a:solidFill>
              <a:srgbClr val="007F60"/>
            </a:solidFill>
            <a:prstDash val="solid"/>
          </a:ln>
        </p:spPr>
      </p:sp>
      <p:sp>
        <p:nvSpPr>
          <p:cNvPr id="12" name="Text 10"/>
          <p:cNvSpPr/>
          <p:nvPr/>
        </p:nvSpPr>
        <p:spPr>
          <a:xfrm>
            <a:off x="4526280"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300  Reference records checked</a:t>
            </a:r>
            <a:endParaRPr lang="en-US" sz="2100" dirty="0"/>
          </a:p>
        </p:txBody>
      </p:sp>
      <p:sp>
        <p:nvSpPr>
          <p:cNvPr id="13" name="Text 11"/>
          <p:cNvSpPr/>
          <p:nvPr/>
        </p:nvSpPr>
        <p:spPr>
          <a:xfrm>
            <a:off x="4526280" y="2852928"/>
            <a:ext cx="3118104" cy="20574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Risk points/levels and bands match; score test permits ±1.5 for LMS rounding.</a:t>
            </a:r>
            <a:endParaRPr lang="en-US" sz="1800" dirty="0"/>
          </a:p>
        </p:txBody>
      </p:sp>
      <p:sp>
        <p:nvSpPr>
          <p:cNvPr id="14" name="Shape 12"/>
          <p:cNvSpPr/>
          <p:nvPr/>
        </p:nvSpPr>
        <p:spPr>
          <a:xfrm>
            <a:off x="8147304" y="1874520"/>
            <a:ext cx="3520440" cy="3154680"/>
          </a:xfrm>
          <a:prstGeom prst="rect">
            <a:avLst/>
          </a:prstGeom>
          <a:solidFill>
            <a:srgbClr val="FFFFFF"/>
          </a:solidFill>
          <a:ln w="12700">
            <a:solidFill>
              <a:srgbClr val="FFFFFF"/>
            </a:solidFill>
            <a:prstDash val="solid"/>
          </a:ln>
        </p:spPr>
      </p:sp>
      <p:sp>
        <p:nvSpPr>
          <p:cNvPr id="15" name="Shape 13"/>
          <p:cNvSpPr/>
          <p:nvPr/>
        </p:nvSpPr>
        <p:spPr>
          <a:xfrm>
            <a:off x="8147304" y="1874520"/>
            <a:ext cx="64008" cy="3154680"/>
          </a:xfrm>
          <a:prstGeom prst="rect">
            <a:avLst/>
          </a:prstGeom>
          <a:solidFill>
            <a:srgbClr val="007F60"/>
          </a:solidFill>
          <a:ln w="12700">
            <a:solidFill>
              <a:srgbClr val="007F60"/>
            </a:solidFill>
            <a:prstDash val="solid"/>
          </a:ln>
        </p:spPr>
      </p:sp>
      <p:sp>
        <p:nvSpPr>
          <p:cNvPr id="16" name="Text 14"/>
          <p:cNvSpPr/>
          <p:nvPr/>
        </p:nvSpPr>
        <p:spPr>
          <a:xfrm>
            <a:off x="8348472" y="2011680"/>
            <a:ext cx="313639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08  Student tabs captured</a:t>
            </a:r>
            <a:endParaRPr lang="en-US" sz="2100" dirty="0"/>
          </a:p>
        </p:txBody>
      </p:sp>
      <p:sp>
        <p:nvSpPr>
          <p:cNvPr id="17" name="Text 15"/>
          <p:cNvSpPr/>
          <p:nvPr/>
        </p:nvSpPr>
        <p:spPr>
          <a:xfrm>
            <a:off x="8348472" y="2852928"/>
            <a:ext cx="3118104" cy="20574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Current preview screenshots document the visible features and role dashboards.</a:t>
            </a:r>
            <a:endParaRPr lang="en-US" sz="1800" dirty="0"/>
          </a:p>
        </p:txBody>
      </p:sp>
      <p:sp>
        <p:nvSpPr>
          <p:cNvPr id="18" name="Text 16"/>
          <p:cNvSpPr/>
          <p:nvPr/>
        </p:nvSpPr>
        <p:spPr>
          <a:xfrm>
            <a:off x="594360" y="5486400"/>
            <a:ext cx="10972800" cy="731520"/>
          </a:xfrm>
          <a:prstGeom prst="rect">
            <a:avLst/>
          </a:prstGeom>
          <a:noFill/>
          <a:ln/>
        </p:spPr>
        <p:txBody>
          <a:bodyPr wrap="square" lIns="0" tIns="0" rIns="0" bIns="0" rtlCol="0" anchor="t"/>
          <a:lstStyle/>
          <a:p>
            <a:pPr indent="0" marL="0">
              <a:buNone/>
            </a:pPr>
            <a:r>
              <a:rPr lang="en-US" sz="2000" dirty="0">
                <a:solidFill>
                  <a:srgbClr val="526A63"/>
                </a:solidFill>
                <a:latin typeface="Calibri" pitchFamily="34" charset="0"/>
                <a:ea typeface="Calibri" pitchFamily="34" charset="-122"/>
                <a:cs typeface="Calibri" pitchFamily="34" charset="-120"/>
              </a:rPr>
              <a:t>Still to verify: signed-in role isolation, real saves, resource/evidence flows, mobile layouts and complete policy acceptance.</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DEMO RUNBOOK</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A repeatable demo that follows the student journey</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35</a:t>
            </a:r>
            <a:endParaRPr lang="en-US" sz="1100" dirty="0"/>
          </a:p>
        </p:txBody>
      </p:sp>
      <p:sp>
        <p:nvSpPr>
          <p:cNvPr id="6" name="Shape 4"/>
          <p:cNvSpPr/>
          <p:nvPr/>
        </p:nvSpPr>
        <p:spPr>
          <a:xfrm>
            <a:off x="502920" y="1874520"/>
            <a:ext cx="5440680" cy="1143000"/>
          </a:xfrm>
          <a:prstGeom prst="rect">
            <a:avLst/>
          </a:prstGeom>
          <a:solidFill>
            <a:srgbClr val="FFFFFF"/>
          </a:solidFill>
          <a:ln w="12700">
            <a:solidFill>
              <a:srgbClr val="FFFFFF"/>
            </a:solidFill>
            <a:prstDash val="solid"/>
          </a:ln>
        </p:spPr>
      </p:sp>
      <p:sp>
        <p:nvSpPr>
          <p:cNvPr id="7" name="Shape 5"/>
          <p:cNvSpPr/>
          <p:nvPr/>
        </p:nvSpPr>
        <p:spPr>
          <a:xfrm>
            <a:off x="502920" y="1874520"/>
            <a:ext cx="64008" cy="1143000"/>
          </a:xfrm>
          <a:prstGeom prst="rect">
            <a:avLst/>
          </a:prstGeom>
          <a:solidFill>
            <a:srgbClr val="007F60"/>
          </a:solidFill>
          <a:ln w="12700">
            <a:solidFill>
              <a:srgbClr val="007F60"/>
            </a:solidFill>
            <a:prstDash val="solid"/>
          </a:ln>
        </p:spPr>
      </p:sp>
      <p:sp>
        <p:nvSpPr>
          <p:cNvPr id="8" name="Text 6"/>
          <p:cNvSpPr/>
          <p:nvPr/>
        </p:nvSpPr>
        <p:spPr>
          <a:xfrm>
            <a:off x="704088" y="2011680"/>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01  Explain the problem</a:t>
            </a:r>
            <a:endParaRPr lang="en-US" sz="1800" dirty="0"/>
          </a:p>
        </p:txBody>
      </p:sp>
      <p:sp>
        <p:nvSpPr>
          <p:cNvPr id="9" name="Text 7"/>
          <p:cNvSpPr/>
          <p:nvPr/>
        </p:nvSpPr>
        <p:spPr>
          <a:xfrm>
            <a:off x="704088" y="2478024"/>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Landing → three questions → seven sources.</a:t>
            </a:r>
            <a:endParaRPr lang="en-US" sz="1600" dirty="0"/>
          </a:p>
        </p:txBody>
      </p:sp>
      <p:sp>
        <p:nvSpPr>
          <p:cNvPr id="10" name="Shape 8"/>
          <p:cNvSpPr/>
          <p:nvPr/>
        </p:nvSpPr>
        <p:spPr>
          <a:xfrm>
            <a:off x="6172200" y="1874520"/>
            <a:ext cx="5440680" cy="1143000"/>
          </a:xfrm>
          <a:prstGeom prst="rect">
            <a:avLst/>
          </a:prstGeom>
          <a:solidFill>
            <a:srgbClr val="FFFFFF"/>
          </a:solidFill>
          <a:ln w="12700">
            <a:solidFill>
              <a:srgbClr val="FFFFFF"/>
            </a:solidFill>
            <a:prstDash val="solid"/>
          </a:ln>
        </p:spPr>
      </p:sp>
      <p:sp>
        <p:nvSpPr>
          <p:cNvPr id="11" name="Shape 9"/>
          <p:cNvSpPr/>
          <p:nvPr/>
        </p:nvSpPr>
        <p:spPr>
          <a:xfrm>
            <a:off x="6172200" y="1874520"/>
            <a:ext cx="64008" cy="1143000"/>
          </a:xfrm>
          <a:prstGeom prst="rect">
            <a:avLst/>
          </a:prstGeom>
          <a:solidFill>
            <a:srgbClr val="007F60"/>
          </a:solidFill>
          <a:ln w="12700">
            <a:solidFill>
              <a:srgbClr val="007F60"/>
            </a:solidFill>
            <a:prstDash val="solid"/>
          </a:ln>
        </p:spPr>
      </p:sp>
      <p:sp>
        <p:nvSpPr>
          <p:cNvPr id="12" name="Text 10"/>
          <p:cNvSpPr/>
          <p:nvPr/>
        </p:nvSpPr>
        <p:spPr>
          <a:xfrm>
            <a:off x="6373368" y="2011680"/>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02  Open student demo</a:t>
            </a:r>
            <a:endParaRPr lang="en-US" sz="1800" dirty="0"/>
          </a:p>
        </p:txBody>
      </p:sp>
      <p:sp>
        <p:nvSpPr>
          <p:cNvPr id="13" name="Text 11"/>
          <p:cNvSpPr/>
          <p:nvPr/>
        </p:nvSpPr>
        <p:spPr>
          <a:xfrm>
            <a:off x="6373368" y="2478024"/>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Overview → attendance → skills/placement.</a:t>
            </a:r>
            <a:endParaRPr lang="en-US" sz="1600" dirty="0"/>
          </a:p>
        </p:txBody>
      </p:sp>
      <p:sp>
        <p:nvSpPr>
          <p:cNvPr id="14" name="Shape 12"/>
          <p:cNvSpPr/>
          <p:nvPr/>
        </p:nvSpPr>
        <p:spPr>
          <a:xfrm>
            <a:off x="502920" y="3227832"/>
            <a:ext cx="5440680" cy="1143000"/>
          </a:xfrm>
          <a:prstGeom prst="rect">
            <a:avLst/>
          </a:prstGeom>
          <a:solidFill>
            <a:srgbClr val="FFFFFF"/>
          </a:solidFill>
          <a:ln w="12700">
            <a:solidFill>
              <a:srgbClr val="FFFFFF"/>
            </a:solidFill>
            <a:prstDash val="solid"/>
          </a:ln>
        </p:spPr>
      </p:sp>
      <p:sp>
        <p:nvSpPr>
          <p:cNvPr id="15" name="Shape 13"/>
          <p:cNvSpPr/>
          <p:nvPr/>
        </p:nvSpPr>
        <p:spPr>
          <a:xfrm>
            <a:off x="502920" y="3227832"/>
            <a:ext cx="64008" cy="1143000"/>
          </a:xfrm>
          <a:prstGeom prst="rect">
            <a:avLst/>
          </a:prstGeom>
          <a:solidFill>
            <a:srgbClr val="007F60"/>
          </a:solidFill>
          <a:ln w="12700">
            <a:solidFill>
              <a:srgbClr val="007F60"/>
            </a:solidFill>
            <a:prstDash val="solid"/>
          </a:ln>
        </p:spPr>
      </p:sp>
      <p:sp>
        <p:nvSpPr>
          <p:cNvPr id="16" name="Text 14"/>
          <p:cNvSpPr/>
          <p:nvPr/>
        </p:nvSpPr>
        <p:spPr>
          <a:xfrm>
            <a:off x="704088" y="3364992"/>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03  Explain two flags</a:t>
            </a:r>
            <a:endParaRPr lang="en-US" sz="1800" dirty="0"/>
          </a:p>
        </p:txBody>
      </p:sp>
      <p:sp>
        <p:nvSpPr>
          <p:cNvPr id="17" name="Text 15"/>
          <p:cNvSpPr/>
          <p:nvPr/>
        </p:nvSpPr>
        <p:spPr>
          <a:xfrm>
            <a:off x="704088" y="3831336"/>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Use Sahil’s profile to show values, rules and points.</a:t>
            </a:r>
            <a:endParaRPr lang="en-US" sz="1600" dirty="0"/>
          </a:p>
        </p:txBody>
      </p:sp>
      <p:sp>
        <p:nvSpPr>
          <p:cNvPr id="18" name="Shape 16"/>
          <p:cNvSpPr/>
          <p:nvPr/>
        </p:nvSpPr>
        <p:spPr>
          <a:xfrm>
            <a:off x="6172200" y="3227832"/>
            <a:ext cx="5440680" cy="1143000"/>
          </a:xfrm>
          <a:prstGeom prst="rect">
            <a:avLst/>
          </a:prstGeom>
          <a:solidFill>
            <a:srgbClr val="FFFFFF"/>
          </a:solidFill>
          <a:ln w="12700">
            <a:solidFill>
              <a:srgbClr val="FFFFFF"/>
            </a:solidFill>
            <a:prstDash val="solid"/>
          </a:ln>
        </p:spPr>
      </p:sp>
      <p:sp>
        <p:nvSpPr>
          <p:cNvPr id="19" name="Shape 17"/>
          <p:cNvSpPr/>
          <p:nvPr/>
        </p:nvSpPr>
        <p:spPr>
          <a:xfrm>
            <a:off x="6172200" y="3227832"/>
            <a:ext cx="64008" cy="1143000"/>
          </a:xfrm>
          <a:prstGeom prst="rect">
            <a:avLst/>
          </a:prstGeom>
          <a:solidFill>
            <a:srgbClr val="007F60"/>
          </a:solidFill>
          <a:ln w="12700">
            <a:solidFill>
              <a:srgbClr val="007F60"/>
            </a:solidFill>
            <a:prstDash val="solid"/>
          </a:ln>
        </p:spPr>
      </p:sp>
      <p:sp>
        <p:nvSpPr>
          <p:cNvPr id="20" name="Text 18"/>
          <p:cNvSpPr/>
          <p:nvPr/>
        </p:nvSpPr>
        <p:spPr>
          <a:xfrm>
            <a:off x="6373368" y="3364992"/>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04  Mentor response</a:t>
            </a:r>
            <a:endParaRPr lang="en-US" sz="1800" dirty="0"/>
          </a:p>
        </p:txBody>
      </p:sp>
      <p:sp>
        <p:nvSpPr>
          <p:cNvPr id="21" name="Text 19"/>
          <p:cNvSpPr/>
          <p:nvPr/>
        </p:nvSpPr>
        <p:spPr>
          <a:xfrm>
            <a:off x="6373368" y="3831336"/>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Faculty filters → compare → create intervention.</a:t>
            </a:r>
            <a:endParaRPr lang="en-US" sz="1600" dirty="0"/>
          </a:p>
        </p:txBody>
      </p:sp>
      <p:sp>
        <p:nvSpPr>
          <p:cNvPr id="22" name="Shape 20"/>
          <p:cNvSpPr/>
          <p:nvPr/>
        </p:nvSpPr>
        <p:spPr>
          <a:xfrm>
            <a:off x="502920" y="4581144"/>
            <a:ext cx="5440680" cy="1143000"/>
          </a:xfrm>
          <a:prstGeom prst="rect">
            <a:avLst/>
          </a:prstGeom>
          <a:solidFill>
            <a:srgbClr val="FFFFFF"/>
          </a:solidFill>
          <a:ln w="12700">
            <a:solidFill>
              <a:srgbClr val="FFFFFF"/>
            </a:solidFill>
            <a:prstDash val="solid"/>
          </a:ln>
        </p:spPr>
      </p:sp>
      <p:sp>
        <p:nvSpPr>
          <p:cNvPr id="23" name="Shape 21"/>
          <p:cNvSpPr/>
          <p:nvPr/>
        </p:nvSpPr>
        <p:spPr>
          <a:xfrm>
            <a:off x="502920" y="4581144"/>
            <a:ext cx="64008" cy="1143000"/>
          </a:xfrm>
          <a:prstGeom prst="rect">
            <a:avLst/>
          </a:prstGeom>
          <a:solidFill>
            <a:srgbClr val="007F60"/>
          </a:solidFill>
          <a:ln w="12700">
            <a:solidFill>
              <a:srgbClr val="007F60"/>
            </a:solidFill>
            <a:prstDash val="solid"/>
          </a:ln>
        </p:spPr>
      </p:sp>
      <p:sp>
        <p:nvSpPr>
          <p:cNvPr id="24" name="Text 22"/>
          <p:cNvSpPr/>
          <p:nvPr/>
        </p:nvSpPr>
        <p:spPr>
          <a:xfrm>
            <a:off x="704088" y="4718304"/>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05  Campus perspective</a:t>
            </a:r>
            <a:endParaRPr lang="en-US" sz="1800" dirty="0"/>
          </a:p>
        </p:txBody>
      </p:sp>
      <p:sp>
        <p:nvSpPr>
          <p:cNvPr id="25" name="Text 23"/>
          <p:cNvSpPr/>
          <p:nvPr/>
        </p:nvSpPr>
        <p:spPr>
          <a:xfrm>
            <a:off x="704088" y="5184648"/>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Admin flag counts → branch heatmap → data quality.</a:t>
            </a:r>
            <a:endParaRPr lang="en-US" sz="1600" dirty="0"/>
          </a:p>
        </p:txBody>
      </p:sp>
      <p:sp>
        <p:nvSpPr>
          <p:cNvPr id="26" name="Shape 24"/>
          <p:cNvSpPr/>
          <p:nvPr/>
        </p:nvSpPr>
        <p:spPr>
          <a:xfrm>
            <a:off x="6172200" y="4581144"/>
            <a:ext cx="5440680" cy="1143000"/>
          </a:xfrm>
          <a:prstGeom prst="rect">
            <a:avLst/>
          </a:prstGeom>
          <a:solidFill>
            <a:srgbClr val="FFFFFF"/>
          </a:solidFill>
          <a:ln w="12700">
            <a:solidFill>
              <a:srgbClr val="FFFFFF"/>
            </a:solidFill>
            <a:prstDash val="solid"/>
          </a:ln>
        </p:spPr>
      </p:sp>
      <p:sp>
        <p:nvSpPr>
          <p:cNvPr id="27" name="Shape 25"/>
          <p:cNvSpPr/>
          <p:nvPr/>
        </p:nvSpPr>
        <p:spPr>
          <a:xfrm>
            <a:off x="6172200" y="4581144"/>
            <a:ext cx="64008" cy="1143000"/>
          </a:xfrm>
          <a:prstGeom prst="rect">
            <a:avLst/>
          </a:prstGeom>
          <a:solidFill>
            <a:srgbClr val="007F60"/>
          </a:solidFill>
          <a:ln w="12700">
            <a:solidFill>
              <a:srgbClr val="007F60"/>
            </a:solidFill>
            <a:prstDash val="solid"/>
          </a:ln>
        </p:spPr>
      </p:sp>
      <p:sp>
        <p:nvSpPr>
          <p:cNvPr id="28" name="Text 26"/>
          <p:cNvSpPr/>
          <p:nvPr/>
        </p:nvSpPr>
        <p:spPr>
          <a:xfrm>
            <a:off x="6373368" y="4718304"/>
            <a:ext cx="5056632" cy="384048"/>
          </a:xfrm>
          <a:prstGeom prst="rect">
            <a:avLst/>
          </a:prstGeom>
          <a:noFill/>
          <a:ln/>
        </p:spPr>
        <p:txBody>
          <a:bodyPr wrap="square" lIns="0" tIns="0" rIns="0" bIns="0" rtlCol="0" anchor="t"/>
          <a:lstStyle/>
          <a:p>
            <a:pPr indent="0" marL="0">
              <a:buNone/>
            </a:pPr>
            <a:r>
              <a:rPr lang="en-US" sz="1800" b="1" dirty="0">
                <a:solidFill>
                  <a:srgbClr val="007F60"/>
                </a:solidFill>
                <a:latin typeface="Trebuchet MS" pitchFamily="34" charset="0"/>
                <a:ea typeface="Trebuchet MS" pitchFamily="34" charset="-122"/>
                <a:cs typeface="Trebuchet MS" pitchFamily="34" charset="-120"/>
              </a:rPr>
              <a:t>06  Close honestly</a:t>
            </a:r>
            <a:endParaRPr lang="en-US" sz="1800" dirty="0"/>
          </a:p>
        </p:txBody>
      </p:sp>
      <p:sp>
        <p:nvSpPr>
          <p:cNvPr id="29" name="Text 27"/>
          <p:cNvSpPr/>
          <p:nvPr/>
        </p:nvSpPr>
        <p:spPr>
          <a:xfrm>
            <a:off x="6373368" y="5184648"/>
            <a:ext cx="5038344" cy="475488"/>
          </a:xfrm>
          <a:prstGeom prst="rect">
            <a:avLst/>
          </a:prstGeom>
          <a:noFill/>
          <a:ln/>
        </p:spPr>
        <p:txBody>
          <a:bodyPr wrap="square" lIns="0" tIns="0" rIns="0" bIns="0" rtlCol="0" anchor="t"/>
          <a:lstStyle/>
          <a:p>
            <a:pPr indent="0" marL="0">
              <a:buNone/>
            </a:pPr>
            <a:r>
              <a:rPr lang="en-US" sz="1600" dirty="0">
                <a:solidFill>
                  <a:srgbClr val="123A32"/>
                </a:solidFill>
                <a:latin typeface="Calibri" pitchFamily="34" charset="0"/>
                <a:ea typeface="Calibri" pitchFamily="34" charset="-122"/>
                <a:cs typeface="Calibri" pitchFamily="34" charset="-120"/>
              </a:rPr>
              <a:t>Show tested calculations and the production-readiness roadmap.</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8F5"/>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007F60"/>
                </a:solidFill>
                <a:latin typeface="Trebuchet MS" pitchFamily="34" charset="0"/>
                <a:ea typeface="Trebuchet MS" pitchFamily="34" charset="-122"/>
                <a:cs typeface="Trebuchet MS" pitchFamily="34" charset="-120"/>
              </a:rPr>
              <a:t>ROADMAP</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123A32"/>
                </a:solidFill>
                <a:latin typeface="Trebuchet MS" pitchFamily="34" charset="0"/>
                <a:ea typeface="Trebuchet MS" pitchFamily="34" charset="-122"/>
                <a:cs typeface="Trebuchet MS" pitchFamily="34" charset="-120"/>
              </a:rPr>
              <a:t>Next phase: make evidence durable, secure and auditable</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526A63"/>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526A63"/>
                </a:solidFill>
                <a:latin typeface="Calibri" pitchFamily="34" charset="0"/>
                <a:ea typeface="Calibri" pitchFamily="34" charset="-122"/>
                <a:cs typeface="Calibri" pitchFamily="34" charset="-120"/>
              </a:rPr>
              <a:t>36</a:t>
            </a:r>
            <a:endParaRPr lang="en-US" sz="1100" dirty="0"/>
          </a:p>
        </p:txBody>
      </p:sp>
      <p:sp>
        <p:nvSpPr>
          <p:cNvPr id="6" name="Shape 4"/>
          <p:cNvSpPr/>
          <p:nvPr/>
        </p:nvSpPr>
        <p:spPr>
          <a:xfrm>
            <a:off x="502920" y="1874520"/>
            <a:ext cx="5440680" cy="1783080"/>
          </a:xfrm>
          <a:prstGeom prst="rect">
            <a:avLst/>
          </a:prstGeom>
          <a:solidFill>
            <a:srgbClr val="FFFFFF"/>
          </a:solidFill>
          <a:ln w="12700">
            <a:solidFill>
              <a:srgbClr val="FFFFFF"/>
            </a:solidFill>
            <a:prstDash val="solid"/>
          </a:ln>
        </p:spPr>
      </p:sp>
      <p:sp>
        <p:nvSpPr>
          <p:cNvPr id="7" name="Shape 5"/>
          <p:cNvSpPr/>
          <p:nvPr/>
        </p:nvSpPr>
        <p:spPr>
          <a:xfrm>
            <a:off x="502920" y="1874520"/>
            <a:ext cx="64008" cy="1783080"/>
          </a:xfrm>
          <a:prstGeom prst="rect">
            <a:avLst/>
          </a:prstGeom>
          <a:solidFill>
            <a:srgbClr val="007F60"/>
          </a:solidFill>
          <a:ln w="12700">
            <a:solidFill>
              <a:srgbClr val="007F60"/>
            </a:solidFill>
            <a:prstDash val="solid"/>
          </a:ln>
        </p:spPr>
      </p:sp>
      <p:sp>
        <p:nvSpPr>
          <p:cNvPr id="8" name="Text 6"/>
          <p:cNvSpPr/>
          <p:nvPr/>
        </p:nvSpPr>
        <p:spPr>
          <a:xfrm>
            <a:off x="704088" y="2011680"/>
            <a:ext cx="505663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Data trust</a:t>
            </a:r>
            <a:endParaRPr lang="en-US" sz="2100" dirty="0"/>
          </a:p>
        </p:txBody>
      </p:sp>
      <p:sp>
        <p:nvSpPr>
          <p:cNvPr id="9" name="Text 7"/>
          <p:cNvSpPr/>
          <p:nvPr/>
        </p:nvSpPr>
        <p:spPr>
          <a:xfrm>
            <a:off x="704088" y="2852928"/>
            <a:ext cx="503834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Live seven-feed ingestion, cleaning/provenance report, freshness and dated snapshots.</a:t>
            </a:r>
            <a:endParaRPr lang="en-US" sz="1800" dirty="0"/>
          </a:p>
        </p:txBody>
      </p:sp>
      <p:sp>
        <p:nvSpPr>
          <p:cNvPr id="10" name="Shape 8"/>
          <p:cNvSpPr/>
          <p:nvPr/>
        </p:nvSpPr>
        <p:spPr>
          <a:xfrm>
            <a:off x="6172200" y="1874520"/>
            <a:ext cx="5440680" cy="1783080"/>
          </a:xfrm>
          <a:prstGeom prst="rect">
            <a:avLst/>
          </a:prstGeom>
          <a:solidFill>
            <a:srgbClr val="FFFFFF"/>
          </a:solidFill>
          <a:ln w="12700">
            <a:solidFill>
              <a:srgbClr val="FFFFFF"/>
            </a:solidFill>
            <a:prstDash val="solid"/>
          </a:ln>
        </p:spPr>
      </p:sp>
      <p:sp>
        <p:nvSpPr>
          <p:cNvPr id="11" name="Shape 9"/>
          <p:cNvSpPr/>
          <p:nvPr/>
        </p:nvSpPr>
        <p:spPr>
          <a:xfrm>
            <a:off x="6172200" y="1874520"/>
            <a:ext cx="64008" cy="1783080"/>
          </a:xfrm>
          <a:prstGeom prst="rect">
            <a:avLst/>
          </a:prstGeom>
          <a:solidFill>
            <a:srgbClr val="007F60"/>
          </a:solidFill>
          <a:ln w="12700">
            <a:solidFill>
              <a:srgbClr val="007F60"/>
            </a:solidFill>
            <a:prstDash val="solid"/>
          </a:ln>
        </p:spPr>
      </p:sp>
      <p:sp>
        <p:nvSpPr>
          <p:cNvPr id="12" name="Text 10"/>
          <p:cNvSpPr/>
          <p:nvPr/>
        </p:nvSpPr>
        <p:spPr>
          <a:xfrm>
            <a:off x="6373368" y="2011680"/>
            <a:ext cx="505663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Secure workflows</a:t>
            </a:r>
            <a:endParaRPr lang="en-US" sz="2100" dirty="0"/>
          </a:p>
        </p:txBody>
      </p:sp>
      <p:sp>
        <p:nvSpPr>
          <p:cNvPr id="13" name="Text 11"/>
          <p:cNvSpPr/>
          <p:nvPr/>
        </p:nvSpPr>
        <p:spPr>
          <a:xfrm>
            <a:off x="6373368" y="2852928"/>
            <a:ext cx="503834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Verify private role journeys, assignments, uploads, evidence approval and durable support actions.</a:t>
            </a:r>
            <a:endParaRPr lang="en-US" sz="1800" dirty="0"/>
          </a:p>
        </p:txBody>
      </p:sp>
      <p:sp>
        <p:nvSpPr>
          <p:cNvPr id="14" name="Shape 12"/>
          <p:cNvSpPr/>
          <p:nvPr/>
        </p:nvSpPr>
        <p:spPr>
          <a:xfrm>
            <a:off x="502920" y="3977640"/>
            <a:ext cx="5440680" cy="1783080"/>
          </a:xfrm>
          <a:prstGeom prst="rect">
            <a:avLst/>
          </a:prstGeom>
          <a:solidFill>
            <a:srgbClr val="FFFFFF"/>
          </a:solidFill>
          <a:ln w="12700">
            <a:solidFill>
              <a:srgbClr val="FFFFFF"/>
            </a:solidFill>
            <a:prstDash val="solid"/>
          </a:ln>
        </p:spPr>
      </p:sp>
      <p:sp>
        <p:nvSpPr>
          <p:cNvPr id="15" name="Shape 13"/>
          <p:cNvSpPr/>
          <p:nvPr/>
        </p:nvSpPr>
        <p:spPr>
          <a:xfrm>
            <a:off x="502920" y="3977640"/>
            <a:ext cx="64008" cy="1783080"/>
          </a:xfrm>
          <a:prstGeom prst="rect">
            <a:avLst/>
          </a:prstGeom>
          <a:solidFill>
            <a:srgbClr val="007F60"/>
          </a:solidFill>
          <a:ln w="12700">
            <a:solidFill>
              <a:srgbClr val="007F60"/>
            </a:solidFill>
            <a:prstDash val="solid"/>
          </a:ln>
        </p:spPr>
      </p:sp>
      <p:sp>
        <p:nvSpPr>
          <p:cNvPr id="16" name="Text 14"/>
          <p:cNvSpPr/>
          <p:nvPr/>
        </p:nvSpPr>
        <p:spPr>
          <a:xfrm>
            <a:off x="704088" y="4114800"/>
            <a:ext cx="505663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Fair analytics</a:t>
            </a:r>
            <a:endParaRPr lang="en-US" sz="2100" dirty="0"/>
          </a:p>
        </p:txBody>
      </p:sp>
      <p:sp>
        <p:nvSpPr>
          <p:cNvPr id="17" name="Text 15"/>
          <p:cNvSpPr/>
          <p:nvPr/>
        </p:nvSpPr>
        <p:spPr>
          <a:xfrm>
            <a:off x="704088" y="4956048"/>
            <a:ext cx="503834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Dated baseline comparisons, sample sizes, missing-data effects and versioned scoring policies.</a:t>
            </a:r>
            <a:endParaRPr lang="en-US" sz="1800" dirty="0"/>
          </a:p>
        </p:txBody>
      </p:sp>
      <p:sp>
        <p:nvSpPr>
          <p:cNvPr id="18" name="Shape 16"/>
          <p:cNvSpPr/>
          <p:nvPr/>
        </p:nvSpPr>
        <p:spPr>
          <a:xfrm>
            <a:off x="6172200" y="3977640"/>
            <a:ext cx="5440680" cy="1783080"/>
          </a:xfrm>
          <a:prstGeom prst="rect">
            <a:avLst/>
          </a:prstGeom>
          <a:solidFill>
            <a:srgbClr val="FFFFFF"/>
          </a:solidFill>
          <a:ln w="12700">
            <a:solidFill>
              <a:srgbClr val="FFFFFF"/>
            </a:solidFill>
            <a:prstDash val="solid"/>
          </a:ln>
        </p:spPr>
      </p:sp>
      <p:sp>
        <p:nvSpPr>
          <p:cNvPr id="19" name="Shape 17"/>
          <p:cNvSpPr/>
          <p:nvPr/>
        </p:nvSpPr>
        <p:spPr>
          <a:xfrm>
            <a:off x="6172200" y="3977640"/>
            <a:ext cx="64008" cy="1783080"/>
          </a:xfrm>
          <a:prstGeom prst="rect">
            <a:avLst/>
          </a:prstGeom>
          <a:solidFill>
            <a:srgbClr val="007F60"/>
          </a:solidFill>
          <a:ln w="12700">
            <a:solidFill>
              <a:srgbClr val="007F60"/>
            </a:solidFill>
            <a:prstDash val="solid"/>
          </a:ln>
        </p:spPr>
      </p:sp>
      <p:sp>
        <p:nvSpPr>
          <p:cNvPr id="20" name="Text 18"/>
          <p:cNvSpPr/>
          <p:nvPr/>
        </p:nvSpPr>
        <p:spPr>
          <a:xfrm>
            <a:off x="6373368" y="4114800"/>
            <a:ext cx="5056632" cy="713232"/>
          </a:xfrm>
          <a:prstGeom prst="rect">
            <a:avLst/>
          </a:prstGeom>
          <a:noFill/>
          <a:ln/>
        </p:spPr>
        <p:txBody>
          <a:bodyPr wrap="square" lIns="0" tIns="0" rIns="0" bIns="0" rtlCol="0" anchor="t"/>
          <a:lstStyle/>
          <a:p>
            <a:pPr indent="0" marL="0">
              <a:buNone/>
            </a:pPr>
            <a:r>
              <a:rPr lang="en-US" sz="2100" b="1" dirty="0">
                <a:solidFill>
                  <a:srgbClr val="007F60"/>
                </a:solidFill>
                <a:latin typeface="Trebuchet MS" pitchFamily="34" charset="0"/>
                <a:ea typeface="Trebuchet MS" pitchFamily="34" charset="-122"/>
                <a:cs typeface="Trebuchet MS" pitchFamily="34" charset="-120"/>
              </a:rPr>
              <a:t>Measured follow-up</a:t>
            </a:r>
            <a:endParaRPr lang="en-US" sz="2100" dirty="0"/>
          </a:p>
        </p:txBody>
      </p:sp>
      <p:sp>
        <p:nvSpPr>
          <p:cNvPr id="21" name="Text 19"/>
          <p:cNvSpPr/>
          <p:nvPr/>
        </p:nvSpPr>
        <p:spPr>
          <a:xfrm>
            <a:off x="6373368" y="4956048"/>
            <a:ext cx="5038344" cy="685800"/>
          </a:xfrm>
          <a:prstGeom prst="rect">
            <a:avLst/>
          </a:prstGeom>
          <a:noFill/>
          <a:ln/>
        </p:spPr>
        <p:txBody>
          <a:bodyPr wrap="square" lIns="0" tIns="0" rIns="0" bIns="0" rtlCol="0" anchor="t"/>
          <a:lstStyle/>
          <a:p>
            <a:pPr indent="0" marL="0">
              <a:buNone/>
            </a:pPr>
            <a:r>
              <a:rPr lang="en-US" sz="1800" dirty="0">
                <a:solidFill>
                  <a:srgbClr val="123A32"/>
                </a:solidFill>
                <a:latin typeface="Calibri" pitchFamily="34" charset="0"/>
                <a:ea typeface="Calibri" pitchFamily="34" charset="-122"/>
                <a:cs typeface="Calibri" pitchFamily="34" charset="-120"/>
              </a:rPr>
              <a:t>Scheduled notifications and before/after reporting without unsupported causal claims.</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3A32"/>
        </a:solidFill>
      </p:bgPr>
    </p:bg>
    <p:spTree>
      <p:nvGrpSpPr>
        <p:cNvPr id="1" name=""/>
        <p:cNvGrpSpPr/>
        <p:nvPr/>
      </p:nvGrpSpPr>
      <p:grpSpPr>
        <a:xfrm>
          <a:off x="0" y="0"/>
          <a:ext cx="0" cy="0"/>
          <a:chOff x="0" y="0"/>
          <a:chExt cx="0" cy="0"/>
        </a:xfrm>
      </p:grpSpPr>
      <p:sp>
        <p:nvSpPr>
          <p:cNvPr id="2" name="Text 0"/>
          <p:cNvSpPr/>
          <p:nvPr/>
        </p:nvSpPr>
        <p:spPr>
          <a:xfrm>
            <a:off x="502920" y="274320"/>
            <a:ext cx="10058400" cy="274320"/>
          </a:xfrm>
          <a:prstGeom prst="rect">
            <a:avLst/>
          </a:prstGeom>
          <a:noFill/>
          <a:ln/>
        </p:spPr>
        <p:txBody>
          <a:bodyPr wrap="square" lIns="0" tIns="0" rIns="0" bIns="0" rtlCol="0" anchor="t"/>
          <a:lstStyle/>
          <a:p>
            <a:pPr indent="0" marL="0">
              <a:buNone/>
            </a:pPr>
            <a:r>
              <a:rPr lang="en-US" sz="1100" b="1" dirty="0">
                <a:solidFill>
                  <a:srgbClr val="9DD8BC"/>
                </a:solidFill>
                <a:latin typeface="Trebuchet MS" pitchFamily="34" charset="0"/>
                <a:ea typeface="Trebuchet MS" pitchFamily="34" charset="-122"/>
                <a:cs typeface="Trebuchet MS" pitchFamily="34" charset="-120"/>
              </a:rPr>
              <a:t>THE TAKEAWAY</a:t>
            </a:r>
            <a:endParaRPr lang="en-US" sz="1100" dirty="0"/>
          </a:p>
        </p:txBody>
      </p:sp>
      <p:sp>
        <p:nvSpPr>
          <p:cNvPr id="3" name="Text 1"/>
          <p:cNvSpPr/>
          <p:nvPr/>
        </p:nvSpPr>
        <p:spPr>
          <a:xfrm>
            <a:off x="502920" y="777240"/>
            <a:ext cx="11064240" cy="914400"/>
          </a:xfrm>
          <a:prstGeom prst="rect">
            <a:avLst/>
          </a:prstGeom>
          <a:noFill/>
          <a:ln/>
        </p:spPr>
        <p:txBody>
          <a:bodyPr wrap="square" lIns="0" tIns="0" rIns="0" bIns="0" rtlCol="0" anchor="t"/>
          <a:lstStyle/>
          <a:p>
            <a:pPr indent="0" marL="0">
              <a:buNone/>
            </a:pPr>
            <a:r>
              <a:rPr lang="en-US" sz="3400" b="1" dirty="0">
                <a:solidFill>
                  <a:srgbClr val="FFFFFF"/>
                </a:solidFill>
                <a:latin typeface="Trebuchet MS" pitchFamily="34" charset="0"/>
                <a:ea typeface="Trebuchet MS" pitchFamily="34" charset="-122"/>
                <a:cs typeface="Trebuchet MS" pitchFamily="34" charset="-120"/>
              </a:rPr>
              <a:t>Explainable insights. Human-led support.</a:t>
            </a:r>
            <a:endParaRPr lang="en-US" sz="3400" dirty="0"/>
          </a:p>
        </p:txBody>
      </p:sp>
      <p:sp>
        <p:nvSpPr>
          <p:cNvPr id="4" name="Text 2"/>
          <p:cNvSpPr/>
          <p:nvPr/>
        </p:nvSpPr>
        <p:spPr>
          <a:xfrm>
            <a:off x="502920" y="6510528"/>
            <a:ext cx="9144000" cy="182880"/>
          </a:xfrm>
          <a:prstGeom prst="rect">
            <a:avLst/>
          </a:prstGeom>
          <a:noFill/>
          <a:ln/>
        </p:spPr>
        <p:txBody>
          <a:bodyPr wrap="square" lIns="0" tIns="0" rIns="0" bIns="0" rtlCol="0" anchor="t"/>
          <a:lstStyle/>
          <a:p>
            <a:pPr indent="0" marL="0">
              <a:buNone/>
            </a:pPr>
            <a:r>
              <a:rPr lang="en-US" sz="1000" dirty="0">
                <a:solidFill>
                  <a:srgbClr val="9DD8BC"/>
                </a:solidFill>
                <a:latin typeface="Calibri" pitchFamily="34" charset="0"/>
                <a:ea typeface="Calibri" pitchFamily="34" charset="-122"/>
                <a:cs typeface="Calibri" pitchFamily="34" charset="-120"/>
              </a:rPr>
              <a:t>BIB InsightIQ  /  TEAM BIB</a:t>
            </a:r>
            <a:endParaRPr lang="en-US" sz="1000" dirty="0"/>
          </a:p>
        </p:txBody>
      </p:sp>
      <p:sp>
        <p:nvSpPr>
          <p:cNvPr id="5" name="Text 3"/>
          <p:cNvSpPr/>
          <p:nvPr/>
        </p:nvSpPr>
        <p:spPr>
          <a:xfrm>
            <a:off x="11064240" y="6473952"/>
            <a:ext cx="548640" cy="228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37</a:t>
            </a:r>
            <a:endParaRPr lang="en-US" sz="1100" dirty="0"/>
          </a:p>
        </p:txBody>
      </p:sp>
      <p:sp>
        <p:nvSpPr>
          <p:cNvPr id="6" name="Text 4"/>
          <p:cNvSpPr/>
          <p:nvPr/>
        </p:nvSpPr>
        <p:spPr>
          <a:xfrm>
            <a:off x="502920" y="1920240"/>
            <a:ext cx="10607040" cy="2468880"/>
          </a:xfrm>
          <a:prstGeom prst="rect">
            <a:avLst/>
          </a:prstGeom>
          <a:noFill/>
          <a:ln/>
        </p:spPr>
        <p:txBody>
          <a:bodyPr wrap="square" lIns="0" tIns="0" rIns="0" bIns="0" rtlCol="0" anchor="t"/>
          <a:lstStyle/>
          <a:p>
            <a:pPr indent="0" marL="0">
              <a:buNone/>
            </a:pPr>
            <a:r>
              <a:rPr lang="en-US" sz="4000" b="1" dirty="0">
                <a:solidFill>
                  <a:srgbClr val="FFFFFF"/>
                </a:solidFill>
                <a:latin typeface="Trebuchet MS" pitchFamily="34" charset="0"/>
                <a:ea typeface="Trebuchet MS" pitchFamily="34" charset="-122"/>
                <a:cs typeface="Trebuchet MS" pitchFamily="34" charset="-120"/>
              </a:rPr>
              <a:t>Who needs help?</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Why are they at risk?</a:t>
            </a:r>
            <a:endParaRPr lang="en-US" sz="4000" dirty="0"/>
          </a:p>
          <a:p>
            <a:pPr indent="0" marL="0">
              <a:buNone/>
            </a:pPr>
            <a:r>
              <a:rPr lang="en-US" sz="4000" b="1" dirty="0">
                <a:solidFill>
                  <a:srgbClr val="FFFFFF"/>
                </a:solidFill>
                <a:latin typeface="Trebuchet MS" pitchFamily="34" charset="0"/>
                <a:ea typeface="Trebuchet MS" pitchFamily="34" charset="-122"/>
                <a:cs typeface="Trebuchet MS" pitchFamily="34" charset="-120"/>
              </a:rPr>
              <a:t>What should faculty do next?</a:t>
            </a:r>
            <a:endParaRPr lang="en-US" sz="4000" dirty="0"/>
          </a:p>
        </p:txBody>
      </p:sp>
      <p:sp>
        <p:nvSpPr>
          <p:cNvPr id="7" name="Text 5"/>
          <p:cNvSpPr/>
          <p:nvPr/>
        </p:nvSpPr>
        <p:spPr>
          <a:xfrm>
            <a:off x="502920" y="4800600"/>
            <a:ext cx="10789920" cy="1005840"/>
          </a:xfrm>
          <a:prstGeom prst="rect">
            <a:avLst/>
          </a:prstGeom>
          <a:noFill/>
          <a:ln/>
        </p:spPr>
        <p:txBody>
          <a:bodyPr wrap="square" lIns="0" tIns="0" rIns="0" bIns="0" rtlCol="0" anchor="t"/>
          <a:lstStyle/>
          <a:p>
            <a:pPr indent="0" marL="0">
              <a:buNone/>
            </a:pPr>
            <a:r>
              <a:rPr lang="en-US" sz="2500" dirty="0">
                <a:solidFill>
                  <a:srgbClr val="BCE0CF"/>
                </a:solidFill>
                <a:latin typeface="Calibri" pitchFamily="34" charset="0"/>
                <a:ea typeface="Calibri" pitchFamily="34" charset="-122"/>
                <a:cs typeface="Calibri" pitchFamily="34" charset="-120"/>
              </a:rPr>
              <a:t>BIB InsightIQ connects the evidence—</a:t>
            </a:r>
            <a:endParaRPr lang="en-US" sz="2500" dirty="0"/>
          </a:p>
          <a:p>
            <a:pPr indent="0" marL="0">
              <a:buNone/>
            </a:pPr>
            <a:r>
              <a:rPr lang="en-US" sz="2500" dirty="0">
                <a:solidFill>
                  <a:srgbClr val="BCE0CF"/>
                </a:solidFill>
                <a:latin typeface="Calibri" pitchFamily="34" charset="0"/>
                <a:ea typeface="Calibri" pitchFamily="34" charset="-122"/>
                <a:cs typeface="Calibri" pitchFamily="34" charset="-120"/>
              </a:rPr>
              <a:t>so support can be specific, timely and accountable.</a:t>
            </a:r>
            <a:endParaRPr lang="en-US" sz="2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TEAM BIB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BIB InsightIQ | Project Documentation</dc:title>
  <dc:subject>Feature documentation and requirements traceability</dc:subject>
  <dc:creator>TEAM BIB</dc:creator>
  <cp:lastModifiedBy>TEAM BIB</cp:lastModifiedBy>
  <cp:revision>1</cp:revision>
  <dcterms:created xsi:type="dcterms:W3CDTF">2026-10-11T03:48:37Z</dcterms:created>
  <dcterms:modified xsi:type="dcterms:W3CDTF">2026-10-11T03:48:37Z</dcterms:modified>
</cp:coreProperties>
</file>